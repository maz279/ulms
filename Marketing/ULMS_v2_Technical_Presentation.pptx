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6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463040"/>
            <a:ext cx="5120640" cy="5120640"/>
          </a:xfrm>
          <a:prstGeom prst="ellipse">
            <a:avLst/>
          </a:prstGeom>
          <a:solidFill>
            <a:srgbClr val="3F51B5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480560"/>
            <a:ext cx="4023360" cy="4023360"/>
          </a:xfrm>
          <a:prstGeom prst="ellipse">
            <a:avLst/>
          </a:prstGeom>
          <a:solidFill>
            <a:srgbClr val="F0C441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0C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UNISOFT SYSTEMS LIMITED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ULMS</a:t>
            </a:r>
            <a:endParaRPr lang="en-US" sz="88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Unisoft Loan Management System — Technical Overview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Bank-grade lending for Bangladesh scheduled banks · Staff web · Borrower app · Field app · Fineract core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53949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0C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modules · 162 REST endpoints · 18 migrations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0C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 Java tests · 44 e2e journeys · 12 runbooks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537192" y="6263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deck covers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371600" y="17099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at a glance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2103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scope, architecture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807208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371600" y="291693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331012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 stack v3 — every layer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014216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1371600" y="412394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&amp; functions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451713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16 backend modules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5221224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1371600" y="53309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engine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572414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BRPD 15/2024 · ECL · Basel · AML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160020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7132320" y="17099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132320" y="2103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311 tests across five suites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2807208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7132320" y="291693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apps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132320" y="331012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web · borrower · field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17920" y="4014216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7132320" y="412394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· enhance · secure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132320" y="451713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Environments, extension recipe, controls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17920" y="5221224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7132320" y="53309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 &amp; roadmap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132320" y="572414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externally bound, what is next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ULMS v2.0 · October 2026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in seven numbers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1481328" cy="2103120"/>
          </a:xfrm>
          <a:prstGeom prst="roundRect">
            <a:avLst>
              <a:gd name="adj" fmla="val 5556"/>
            </a:avLst>
          </a:prstGeom>
          <a:solidFill>
            <a:srgbClr val="F0F2FB"/>
          </a:solidFill>
          <a:ln w="9525">
            <a:solidFill>
              <a:srgbClr val="C5CAE9"/>
            </a:solidFill>
            <a:prstDash val="solid"/>
          </a:ln>
          <a:effectLst>
            <a:outerShdw sx="100000" sy="100000" kx="0" ky="0" algn="bl" rotWithShape="0" blurRad="88900" dist="25400" dir="2700000">
              <a:srgbClr val="0D1233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2286000"/>
            <a:ext cx="14813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30352" y="3291840"/>
            <a:ext cx="1335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modules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084832" y="2103120"/>
            <a:ext cx="1481328" cy="2103120"/>
          </a:xfrm>
          <a:prstGeom prst="roundRect">
            <a:avLst>
              <a:gd name="adj" fmla="val 5556"/>
            </a:avLst>
          </a:prstGeom>
          <a:solidFill>
            <a:srgbClr val="F0F2FB"/>
          </a:solidFill>
          <a:ln w="9525">
            <a:solidFill>
              <a:srgbClr val="C5CAE9"/>
            </a:solidFill>
            <a:prstDash val="solid"/>
          </a:ln>
          <a:effectLst>
            <a:outerShdw sx="100000" sy="100000" kx="0" ky="0" algn="bl" rotWithShape="0" blurRad="88900" dist="25400" dir="2700000">
              <a:srgbClr val="0D1233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84832" y="2286000"/>
            <a:ext cx="14813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2157984" y="3291840"/>
            <a:ext cx="1335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712464" y="2103120"/>
            <a:ext cx="1481328" cy="2103120"/>
          </a:xfrm>
          <a:prstGeom prst="roundRect">
            <a:avLst>
              <a:gd name="adj" fmla="val 5556"/>
            </a:avLst>
          </a:prstGeom>
          <a:solidFill>
            <a:srgbClr val="F0F2FB"/>
          </a:solidFill>
          <a:ln w="9525">
            <a:solidFill>
              <a:srgbClr val="C5CAE9"/>
            </a:solidFill>
            <a:prstDash val="solid"/>
          </a:ln>
          <a:effectLst>
            <a:outerShdw sx="100000" sy="100000" kx="0" ky="0" algn="bl" rotWithShape="0" blurRad="88900" dist="25400" dir="2700000">
              <a:srgbClr val="0D1233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12464" y="2286000"/>
            <a:ext cx="14813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785616" y="3291840"/>
            <a:ext cx="1335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 migrations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340096" y="2103120"/>
            <a:ext cx="1481328" cy="2103120"/>
          </a:xfrm>
          <a:prstGeom prst="roundRect">
            <a:avLst>
              <a:gd name="adj" fmla="val 5556"/>
            </a:avLst>
          </a:prstGeom>
          <a:solidFill>
            <a:srgbClr val="F0F2FB"/>
          </a:solidFill>
          <a:ln w="9525">
            <a:solidFill>
              <a:srgbClr val="C5CAE9"/>
            </a:solidFill>
            <a:prstDash val="solid"/>
          </a:ln>
          <a:effectLst>
            <a:outerShdw sx="100000" sy="100000" kx="0" ky="0" algn="bl" rotWithShape="0" blurRad="88900" dist="25400" dir="2700000">
              <a:srgbClr val="0D1233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40096" y="2286000"/>
            <a:ext cx="14813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5413248" y="3291840"/>
            <a:ext cx="1335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tests (last full)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967728" y="2103120"/>
            <a:ext cx="1481328" cy="2103120"/>
          </a:xfrm>
          <a:prstGeom prst="roundRect">
            <a:avLst>
              <a:gd name="adj" fmla="val 5556"/>
            </a:avLst>
          </a:prstGeom>
          <a:solidFill>
            <a:srgbClr val="F0F2FB"/>
          </a:solidFill>
          <a:ln w="9525">
            <a:solidFill>
              <a:srgbClr val="C5CAE9"/>
            </a:solidFill>
            <a:prstDash val="solid"/>
          </a:ln>
          <a:effectLst>
            <a:outerShdw sx="100000" sy="100000" kx="0" ky="0" algn="bl" rotWithShape="0" blurRad="88900" dist="25400" dir="2700000">
              <a:srgbClr val="0D1233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67728" y="2286000"/>
            <a:ext cx="14813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7040880" y="3291840"/>
            <a:ext cx="1335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journeys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595360" y="2103120"/>
            <a:ext cx="1481328" cy="2103120"/>
          </a:xfrm>
          <a:prstGeom prst="roundRect">
            <a:avLst>
              <a:gd name="adj" fmla="val 5556"/>
            </a:avLst>
          </a:prstGeom>
          <a:solidFill>
            <a:srgbClr val="F0F2FB"/>
          </a:solidFill>
          <a:ln w="9525">
            <a:solidFill>
              <a:srgbClr val="C5CAE9"/>
            </a:solidFill>
            <a:prstDash val="solid"/>
          </a:ln>
          <a:effectLst>
            <a:outerShdw sx="100000" sy="100000" kx="0" ky="0" algn="bl" rotWithShape="0" blurRad="88900" dist="25400" dir="2700000">
              <a:srgbClr val="0D1233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595360" y="2286000"/>
            <a:ext cx="14813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8668512" y="3291840"/>
            <a:ext cx="1335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apps shipped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0222992" y="2103120"/>
            <a:ext cx="1481328" cy="2103120"/>
          </a:xfrm>
          <a:prstGeom prst="roundRect">
            <a:avLst>
              <a:gd name="adj" fmla="val 5556"/>
            </a:avLst>
          </a:prstGeom>
          <a:solidFill>
            <a:srgbClr val="F0F2FB"/>
          </a:solidFill>
          <a:ln w="9525">
            <a:solidFill>
              <a:srgbClr val="C5CAE9"/>
            </a:solidFill>
            <a:prstDash val="solid"/>
          </a:ln>
          <a:effectLst>
            <a:outerShdw sx="100000" sy="100000" kx="0" ky="0" algn="bl" rotWithShape="0" blurRad="88900" dist="25400" dir="2700000">
              <a:srgbClr val="0D1233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222992" y="2286000"/>
            <a:ext cx="14813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10296144" y="3291840"/>
            <a:ext cx="1335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runbooks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4663440"/>
            <a:ext cx="11274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monolith by binding decision — one deployable unit, module boundaries enforced by Spring Modulith.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Fineract CE is the immutable loan subledger; ULMS mirrors state for BRPD boards and projections. Build stage complete; bank cutover items follow the RB-11A flip runbook.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ULMS v2.0 · October 2026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clients · one modular monolith · bank cores</a:t>
            </a:r>
            <a:endParaRPr lang="en-US" sz="3200" dirty="0"/>
          </a:p>
        </p:txBody>
      </p:sp>
      <p:pic>
        <p:nvPicPr>
          <p:cNvPr id="4" name="Image 0" descr="C:\software_project\mim_project\LMS\Marketing\exhibits\E1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7498080" cy="4069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1645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503920" y="2103120"/>
            <a:ext cx="3200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monolith (stack v3) — cycles broken with owned ports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Contract-first mock drives 44 e2e tests without Docker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adapters profile-gated (cib-live, rails-live …)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same-origin: /api, /realms (Keycloak), /hooks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6172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component diagram generated from repo structure (SOURCES.md, Marketing/exhibits/E1).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ULMS v2.0 · October 2026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 Technology Stack v3 — every layer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7455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480560"/>
                <a:gridCol w="478231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6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21 · Spring Boot 4 · Gradle 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Modular monolith · Spring Modulith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17 · Flyway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migrations V1–V18 · JPA validates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Keycloak 26 · OIDC + PKCE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Realm ulms · direct-grant MFA login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 web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19 · MUI v7 · Vite 7 · TS 5.8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Dynamics-365 shell · bilingual EN/BN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 54 · React Native 0.81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Borrower (signed APK) · field (offline-first)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ledger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Fineract CE (pinned SHA)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 lifecycle subledger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Compose → k3s · Helm · Prometheus/Grafana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CI stages · 14 jobs (GitLab)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OpenAPI 3.0 (redocly-valid)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 documented paths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ULMS v2.0 · October 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&amp; FUNCTIONS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modules — where the endpoints live</a:t>
            </a:r>
            <a:endParaRPr lang="en-US" sz="3200" dirty="0"/>
          </a:p>
        </p:txBody>
      </p:sp>
      <p:pic>
        <p:nvPicPr>
          <p:cNvPr id="4" name="Image 0" descr="C:\software_project\mim_project\LMS\Marketing\exhibits\E2_endpoi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035040" cy="3749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49440" y="173736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772400" y="188366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418320" y="173736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0241280" y="188366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949440" y="278892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7772400" y="293522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418320" y="278892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10241280" y="293522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949440" y="384048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7772400" y="398678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418320" y="384048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10241280" y="398678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949440" y="489204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7772400" y="503834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418320" y="489204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10241280" y="503834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Origination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949440" y="50292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from the structured repo sweep (SOURCES.md). Collections &amp; compliance dominate by design — delinquency and regulatory reporting are the deepest domains.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ULMS v2.0 · October 2026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Credit-to-cash: application to money in seven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1499616" cy="2377440"/>
          </a:xfrm>
          <a:prstGeom prst="roundRect">
            <a:avLst>
              <a:gd name="adj" fmla="val 4878"/>
            </a:avLst>
          </a:prstGeom>
          <a:solidFill>
            <a:srgbClr val="F0F2FB"/>
          </a:solidFill>
          <a:ln w="9525">
            <a:solidFill>
              <a:srgbClr val="C5CAE9"/>
            </a:solidFill>
            <a:prstDash val="solid"/>
          </a:ln>
          <a:effectLst>
            <a:outerShdw sx="100000" sy="100000" kx="0" ky="0" algn="bl" rotWithShape="0" blurRad="88900" dist="25400" dir="2700000">
              <a:srgbClr val="0D1233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2048256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724912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30352" y="3127248"/>
            <a:ext cx="1353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bounds + DBR ≤50% enforced server-side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75104" y="3108960"/>
            <a:ext cx="109728" cy="0"/>
          </a:xfrm>
          <a:prstGeom prst="line">
            <a:avLst/>
          </a:prstGeom>
          <a:noFill/>
          <a:ln w="25400">
            <a:solidFill>
              <a:srgbClr val="3F51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93976" y="1920240"/>
            <a:ext cx="1499616" cy="2377440"/>
          </a:xfrm>
          <a:prstGeom prst="roundRect">
            <a:avLst>
              <a:gd name="adj" fmla="val 4878"/>
            </a:avLst>
          </a:prstGeom>
          <a:solidFill>
            <a:srgbClr val="F0F2FB"/>
          </a:solidFill>
          <a:ln w="9525">
            <a:solidFill>
              <a:srgbClr val="C5CAE9"/>
            </a:solidFill>
            <a:prstDash val="solid"/>
          </a:ln>
          <a:effectLst>
            <a:outerShdw sx="100000" sy="100000" kx="0" ky="0" algn="bl" rotWithShape="0" blurRad="88900" dist="25400" dir="2700000">
              <a:srgbClr val="0D1233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93976" y="2048256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093976" y="2724912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 pull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167128" y="3127248"/>
            <a:ext cx="1353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1h · 429 never retried · circuit breaker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11880" y="3108960"/>
            <a:ext cx="109728" cy="0"/>
          </a:xfrm>
          <a:prstGeom prst="line">
            <a:avLst/>
          </a:prstGeom>
          <a:noFill/>
          <a:ln w="25400">
            <a:solidFill>
              <a:srgbClr val="3F51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30752" y="1920240"/>
            <a:ext cx="1499616" cy="2377440"/>
          </a:xfrm>
          <a:prstGeom prst="roundRect">
            <a:avLst>
              <a:gd name="adj" fmla="val 4878"/>
            </a:avLst>
          </a:prstGeom>
          <a:solidFill>
            <a:srgbClr val="F0F2FB"/>
          </a:solidFill>
          <a:ln w="9525">
            <a:solidFill>
              <a:srgbClr val="C5CAE9"/>
            </a:solidFill>
            <a:prstDash val="solid"/>
          </a:ln>
          <a:effectLst>
            <a:outerShdw sx="100000" sy="100000" kx="0" ky="0" algn="bl" rotWithShape="0" blurRad="88900" dist="25400" dir="2700000">
              <a:srgbClr val="0D1233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30752" y="2048256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730752" y="2724912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CPV gate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803904" y="3127248"/>
            <a:ext cx="1353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Field/branch verification gates the ladder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48656" y="3108960"/>
            <a:ext cx="109728" cy="0"/>
          </a:xfrm>
          <a:prstGeom prst="line">
            <a:avLst/>
          </a:prstGeom>
          <a:noFill/>
          <a:ln w="25400">
            <a:solidFill>
              <a:srgbClr val="3F51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67528" y="1920240"/>
            <a:ext cx="1499616" cy="2377440"/>
          </a:xfrm>
          <a:prstGeom prst="roundRect">
            <a:avLst>
              <a:gd name="adj" fmla="val 4878"/>
            </a:avLst>
          </a:prstGeom>
          <a:solidFill>
            <a:srgbClr val="F0F2FB"/>
          </a:solidFill>
          <a:ln w="9525">
            <a:solidFill>
              <a:srgbClr val="C5CAE9"/>
            </a:solidFill>
            <a:prstDash val="solid"/>
          </a:ln>
          <a:effectLst>
            <a:outerShdw sx="100000" sy="100000" kx="0" ky="0" algn="bl" rotWithShape="0" blurRad="88900" dist="25400" dir="2700000">
              <a:srgbClr val="0D1233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67528" y="2048256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5367528" y="2724912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Ladder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40680" y="3127248"/>
            <a:ext cx="1353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Amount-derived level · maker-checker at L1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85432" y="3108960"/>
            <a:ext cx="109728" cy="0"/>
          </a:xfrm>
          <a:prstGeom prst="line">
            <a:avLst/>
          </a:prstGeom>
          <a:noFill/>
          <a:ln w="25400">
            <a:solidFill>
              <a:srgbClr val="3F51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04304" y="1920240"/>
            <a:ext cx="1499616" cy="2377440"/>
          </a:xfrm>
          <a:prstGeom prst="roundRect">
            <a:avLst>
              <a:gd name="adj" fmla="val 4878"/>
            </a:avLst>
          </a:prstGeom>
          <a:solidFill>
            <a:srgbClr val="F0F2FB"/>
          </a:solidFill>
          <a:ln w="9525">
            <a:solidFill>
              <a:srgbClr val="C5CAE9"/>
            </a:solidFill>
            <a:prstDash val="solid"/>
          </a:ln>
          <a:effectLst>
            <a:outerShdw sx="100000" sy="100000" kx="0" ky="0" algn="bl" rotWithShape="0" blurRad="88900" dist="25400" dir="2700000">
              <a:srgbClr val="0D1233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004304" y="2048256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004304" y="2724912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077456" y="3127248"/>
            <a:ext cx="1353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 with tokenized acceptance link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522208" y="3108960"/>
            <a:ext cx="109728" cy="0"/>
          </a:xfrm>
          <a:prstGeom prst="line">
            <a:avLst/>
          </a:prstGeom>
          <a:noFill/>
          <a:ln w="25400">
            <a:solidFill>
              <a:srgbClr val="3F51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41080" y="1920240"/>
            <a:ext cx="1499616" cy="2377440"/>
          </a:xfrm>
          <a:prstGeom prst="roundRect">
            <a:avLst>
              <a:gd name="adj" fmla="val 4878"/>
            </a:avLst>
          </a:prstGeom>
          <a:solidFill>
            <a:srgbClr val="F0F2FB"/>
          </a:solidFill>
          <a:ln w="9525">
            <a:solidFill>
              <a:srgbClr val="C5CAE9"/>
            </a:solidFill>
            <a:prstDash val="solid"/>
          </a:ln>
          <a:effectLst>
            <a:outerShdw sx="100000" sy="100000" kx="0" ky="0" algn="bl" rotWithShape="0" blurRad="88900" dist="25400" dir="2700000">
              <a:srgbClr val="0D1233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641080" y="2048256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8641080" y="2724912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Dual-auth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714232" y="3127248"/>
            <a:ext cx="1353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≠ authorize ≠ release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158984" y="3108960"/>
            <a:ext cx="109728" cy="0"/>
          </a:xfrm>
          <a:prstGeom prst="line">
            <a:avLst/>
          </a:prstGeom>
          <a:noFill/>
          <a:ln w="25400">
            <a:solidFill>
              <a:srgbClr val="3F51B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277856" y="1920240"/>
            <a:ext cx="1499616" cy="2377440"/>
          </a:xfrm>
          <a:prstGeom prst="roundRect">
            <a:avLst>
              <a:gd name="adj" fmla="val 4878"/>
            </a:avLst>
          </a:prstGeom>
          <a:solidFill>
            <a:srgbClr val="1E2660"/>
          </a:solidFill>
          <a:ln w="9525">
            <a:solidFill>
              <a:srgbClr val="C5CAE9"/>
            </a:solidFill>
            <a:prstDash val="solid"/>
          </a:ln>
          <a:effectLst>
            <a:outerShdw sx="100000" sy="100000" kx="0" ky="0" algn="bl" rotWithShape="0" blurRad="88900" dist="25400" dir="2700000">
              <a:srgbClr val="0D1233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0277856" y="2048256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C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10277856" y="2724912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Disburse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10351008" y="3127248"/>
            <a:ext cx="1353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Fineract posts · ULMS mirror · STR if ≥৳10L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475488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EOD (23:30 Dhaka) then reclassifies the book: DPD recompute → BRPD stage → provision JV → interest suspense (SS+) → board &amp; IFRS-9 refresh.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457200" y="55778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workflow trace in code — OriginationService.java, ApprovalService.java, DisbursementService.java, EodBatchService.java.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ULMS v2.0 · October 2026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BRPD Circular 15/2024 — classification &amp; provisioning</a:t>
            </a:r>
            <a:endParaRPr lang="en-US" sz="3200" dirty="0"/>
          </a:p>
        </p:txBody>
      </p:sp>
      <p:pic>
        <p:nvPicPr>
          <p:cNvPr id="4" name="Image 0" descr="C:\software_project\mim_project\LMS\Marketing\exhibits\E4_brp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6949440" cy="2560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863840" y="1783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implemented and tested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863840" y="2240280"/>
            <a:ext cx="3840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IFRS-9 ECL staging (EclModel.java)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 III CAR + RWA by segment + parallel-run harness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BFIU AML: STR ≥৳20L cash, CTR, goAML XML export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12-return Regcon catalog · WORM packs · maker-checker sign-off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46177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suspense applies from SS onward; ≥EMI payments regularize DPD (demoed live in the borrower app demo mode). Boundaries locked by BrpdBoundaryLockTest — DF ≤365 / B-L &gt;365 move only together.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56235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BrpdClassifier.java, EclModel.java, BaselParallelRunService.java, AmlController.java.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ULMS v2.0 · October 2026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LADDER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levels, configured — not coded</a:t>
            </a:r>
            <a:endParaRPr lang="en-US" sz="3200" dirty="0"/>
          </a:p>
        </p:txBody>
      </p:sp>
      <p:pic>
        <p:nvPicPr>
          <p:cNvPr id="4" name="Image 0" descr="C:\software_project\mim_project\LMS\Marketing\exhibits\E5_lad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758952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12480" y="178308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nodes are maker-checker dual; SLA 48h/level with 02:15 nightly auto-escalation. DELEGATE moves a task to a peer (assignee-only gate after); APPROVE_WITH_CONDITIONS records conditions precedent that block disbursement until SATISFIED or WAIVED. Bands live in approval_band (V2 seed) — the bank retunes limits with a data change.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5120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V2__origination_workflow.sql:98-105, SlaService.java, Q1DelegateConditionsTest.java.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ULMS v2.0 · October 2026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311 passing tests across five suites</a:t>
            </a:r>
            <a:endParaRPr lang="en-US" sz="3200" dirty="0"/>
          </a:p>
        </p:txBody>
      </p:sp>
      <p:pic>
        <p:nvPicPr>
          <p:cNvPr id="4" name="Image 0" descr="C:\software_project\mim_project\LMS\Marketing\exhibits\E3_tes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6766560" cy="3017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0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784080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 / 52 suites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0" y="24048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unit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784080" y="24048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0" y="302666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784080" y="302666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0" y="364845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app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784080" y="364845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772400" y="42702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 app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784080" y="42702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suites run in Docker (gradle:8-jdk21 + Testcontainers PG17 — CI parity). The e2e suite includes a WCAG 2.1 AA axe gate over 7 surfaces; the build reproduced the release APK byte-identically (deterministic pipeline).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ULMS v2.0 · October 2026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APPS · STAFF WEB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staff cockpit — real Keycloak session</a:t>
            </a:r>
            <a:endParaRPr lang="en-US" sz="3200" dirty="0"/>
          </a:p>
        </p:txBody>
      </p:sp>
      <p:pic>
        <p:nvPicPr>
          <p:cNvPr id="4" name="Image 0" descr="C:\software_project\mim_project\LMS\Marketing\screenshots\s00_staff_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00200"/>
            <a:ext cx="3703320" cy="20848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73989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Sign-in: creds → MFA (Keycloak direct grant)</a:t>
            </a:r>
            <a:endParaRPr lang="en-US" sz="1100" dirty="0"/>
          </a:p>
        </p:txBody>
      </p:sp>
      <p:pic>
        <p:nvPicPr>
          <p:cNvPr id="6" name="Image 1" descr="C:\software_project\mim_project\LMS\Marketing\screenshots\s01_hom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43400" y="1600200"/>
            <a:ext cx="3703320" cy="20848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43400" y="373989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— environment chip reads PRODUCTION</a:t>
            </a:r>
            <a:endParaRPr lang="en-US" sz="1100" dirty="0"/>
          </a:p>
        </p:txBody>
      </p:sp>
      <p:pic>
        <p:nvPicPr>
          <p:cNvPr id="8" name="Image 2" descr="C:\software_project\mim_project\LMS\Marketing\screenshots\s02_pipelin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29600" y="1600200"/>
            <a:ext cx="3703320" cy="20848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229600" y="373989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— stage chips, DBR, drawer</a:t>
            </a:r>
            <a:endParaRPr lang="en-US" sz="1100" dirty="0"/>
          </a:p>
        </p:txBody>
      </p:sp>
      <p:pic>
        <p:nvPicPr>
          <p:cNvPr id="10" name="Image 3" descr="C:\software_project\mim_project\LMS\Marketing\screenshots\s03_classification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57200" y="4069080"/>
            <a:ext cx="3703320" cy="20848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57200" y="620877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BRPD classification board</a:t>
            </a:r>
            <a:endParaRPr lang="en-US" sz="1100" dirty="0"/>
          </a:p>
        </p:txBody>
      </p:sp>
      <p:pic>
        <p:nvPicPr>
          <p:cNvPr id="12" name="Image 4" descr="C:\software_project\mim_project\LMS\Marketing\screenshots\s04_collections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43400" y="4069080"/>
            <a:ext cx="3703320" cy="208483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343400" y="620877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workbench — PTP, dunning</a:t>
            </a:r>
            <a:endParaRPr lang="en-US" sz="1100" dirty="0"/>
          </a:p>
        </p:txBody>
      </p:sp>
      <p:pic>
        <p:nvPicPr>
          <p:cNvPr id="14" name="Image 5" descr="C:\software_project\mim_project\LMS\Marketing\screenshots\s05_customers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229600" y="4069080"/>
            <a:ext cx="3703320" cy="2084832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8229600" y="620877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master — branch-scoped</a:t>
            </a:r>
            <a:endParaRPr lang="en-US" sz="1100" dirty="0"/>
          </a:p>
        </p:txBody>
      </p:sp>
      <p:sp>
        <p:nvSpPr>
          <p:cNvPr id="16" name="Text 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ULMS v2.0 · October 2026</a:t>
            </a:r>
            <a:endParaRPr lang="en-US" sz="1000" dirty="0"/>
          </a:p>
        </p:txBody>
      </p:sp>
      <p:sp>
        <p:nvSpPr>
          <p:cNvPr id="17" name="Text 9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APPS · BORROWER MOBILE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Android APK — runs standalone in demo mode</a:t>
            </a:r>
            <a:endParaRPr lang="en-US" sz="3200" dirty="0"/>
          </a:p>
        </p:txBody>
      </p:sp>
      <p:pic>
        <p:nvPicPr>
          <p:cNvPr id="4" name="Image 0" descr="C:\software_project\mim_project\LMS\Marketing\screenshots\b1_borrower_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45920"/>
            <a:ext cx="3749040" cy="2651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3525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sign-in — code auto-fills (demo simulates SMS)</a:t>
            </a:r>
            <a:endParaRPr lang="en-US" sz="1100" dirty="0"/>
          </a:p>
        </p:txBody>
      </p:sp>
      <p:pic>
        <p:nvPicPr>
          <p:cNvPr id="6" name="Image 1" descr="C:\software_project\mim_project\LMS\Marketing\screenshots\b2_borrower_hom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34840" y="1645920"/>
            <a:ext cx="3749040" cy="2651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34840" y="43525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— hero balance card, EMI, DPD, quick actions</a:t>
            </a:r>
            <a:endParaRPr lang="en-US" sz="1100" dirty="0"/>
          </a:p>
        </p:txBody>
      </p:sp>
      <p:pic>
        <p:nvPicPr>
          <p:cNvPr id="8" name="Image 2" descr="C:\software_project\mim_project\LMS\Marketing\screenshots\b3_borrower_pay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366760" y="1645920"/>
            <a:ext cx="3566160" cy="26517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366760" y="43525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— rail chips + OTP confirmation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457200" y="4617720"/>
            <a:ext cx="11155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com.uslbd.ulmsborrower v0.1.0 · minSdk 24 · apksigner v2/v3 verified · arm64 Hermes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backend set → embedded prototype simulation; set EXPO_PUBLIC_API_BASE → real /portal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iOS: verified Xcode project shipped — IPA needs Mac/EAS per Apple licensing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ULMS v2.0 · October 2026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APPS · FIELD MOBILE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verification — evidence never lost</a:t>
            </a:r>
            <a:endParaRPr lang="en-US" sz="3200" dirty="0"/>
          </a:p>
        </p:txBody>
      </p:sp>
      <p:pic>
        <p:nvPicPr>
          <p:cNvPr id="4" name="Image 0" descr="C:\software_project\mim_project\LMS\Marketing\screenshots\f1_field_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45920"/>
            <a:ext cx="3749040" cy="2651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3525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PKCE sign-in + security notices</a:t>
            </a:r>
            <a:endParaRPr lang="en-US" sz="1100" dirty="0"/>
          </a:p>
        </p:txBody>
      </p:sp>
      <p:pic>
        <p:nvPicPr>
          <p:cNvPr id="6" name="Image 1" descr="C:\software_project\mim_project\LMS\Marketing\screenshots\f2_field_cpv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34840" y="1645920"/>
            <a:ext cx="3749040" cy="2651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34840" y="43525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CPV form — signature canvas, GPS gate, voice ≤5 min</a:t>
            </a:r>
            <a:endParaRPr lang="en-US" sz="1100" dirty="0"/>
          </a:p>
        </p:txBody>
      </p:sp>
      <p:pic>
        <p:nvPicPr>
          <p:cNvPr id="8" name="Image 2" descr="C:\software_project\mim_project\LMS\Marketing\screenshots\f3_field_map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366760" y="1645920"/>
            <a:ext cx="3566160" cy="26517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366760" y="43525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map — borrower task pins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457200" y="4617720"/>
            <a:ext cx="11155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 idempotent by clientUuid · task state is server-wins · evidence append-only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App-PIN lock (salted hash) + two-step SOS that never silently drops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/field gateway: delta pull with bundleVersion, visits, PTP, SOS + ack desk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ULMS v2.0 · October 2026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environments, one pipeline</a:t>
            </a:r>
            <a:endParaRPr lang="en-US" sz="3200" dirty="0"/>
          </a:p>
        </p:txBody>
      </p:sp>
      <p:pic>
        <p:nvPicPr>
          <p:cNvPr id="4" name="Image 0" descr="C:\software_project\mim_project\LMS\Marketing\exhibits\E6_topolog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67512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1645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running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635240" y="2057400"/>
            <a:ext cx="4069080" cy="13716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1016" tIns="1016" rIns="1016" bIns="1016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mock:api &amp;&amp; npm run dev   # zero-Docker dev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             # 8-service verification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upgrade --install ulms deploy/chart/ulms --atomic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635240" y="3611880"/>
            <a:ext cx="4069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scheduled jobs (SLA */15 · EOD 23:30 · WORM 02:00 · dunning 06:00 …)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runbooks incl. RB-11A flip matrix — mock→bank is values-only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Mobile: build-apk.sh one command → signed APK (byte-identical rebuild proven)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ULMS v2.0 · October 2026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a regulator can trace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0F2FB"/>
          </a:solidFill>
          <a:ln w="9525">
            <a:solidFill>
              <a:srgbClr val="C5CA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6537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21284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OIDC · PKCE · MFA on staff login · SSO secondary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51960" y="173736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0F2FB"/>
          </a:solidFill>
          <a:ln w="9525">
            <a:solidFill>
              <a:srgbClr val="C5CA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4840" y="186537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434840" y="221284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gates per endpoint · ladder-level gates · own-CIF portal rows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0F2FB"/>
          </a:solidFill>
          <a:ln w="9525">
            <a:solidFill>
              <a:srgbClr val="C5CA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86537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control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0" y="221284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Maker-checker ladder · triple-gated disbursement · SOS ledger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33756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0F2FB"/>
          </a:solidFill>
          <a:ln w="9525">
            <a:solidFill>
              <a:srgbClr val="C5CA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46557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381304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 audit_entry on every mutation · signatures on approvals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51960" y="333756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0F2FB"/>
          </a:solidFill>
          <a:ln w="9525">
            <a:solidFill>
              <a:srgbClr val="C5CA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346557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434840" y="381304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Env/Vault only — zero usable literals in the repo (scanned)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46720" y="333756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0F2FB"/>
          </a:solidFill>
          <a:ln w="9525">
            <a:solidFill>
              <a:srgbClr val="C5CA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346557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0" y="381304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BRPD · IFRS-9 · Basel III · BFIU AML (STR/CTR/goAML) · 12 returns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5212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CSP + nosniff + XFO on the web tier · WCAG axe gate in CI · bilingual incl. Bangla numerals.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ULMS v2.0 · October 2026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&amp; EXTENSION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six-step vertical-slice recipe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685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188720" y="17830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+ Flyway V19+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188720" y="216712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validates; never generates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251960" y="1691640"/>
            <a:ext cx="685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983480" y="17830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+ service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983480" y="216712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+ @PreAuthorize + Testcontainers test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046720" y="1691640"/>
            <a:ext cx="685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778240" y="17830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+ OpenAPI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778240" y="216712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redocly must stay valid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3154680"/>
            <a:ext cx="685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1188720" y="32461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route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188720" y="363016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parity for Docker-free e2e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251960" y="3154680"/>
            <a:ext cx="685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4983480" y="32461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+ screens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983480" y="363016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API client · mobile where needed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046720" y="3154680"/>
            <a:ext cx="685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8778240" y="32461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Suites green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778240" y="363016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Touched suites rerun in Docker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4892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slices in repo: collections watchlist + auctions (V17) and the field gateway (V18) each added table → service → controller → spec → mock → screen in one commit series.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ULMS v2.0 · October 2026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 &amp;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plainly — nothing hidden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764792"/>
            <a:ext cx="256032" cy="256032"/>
          </a:xfrm>
          <a:prstGeom prst="ellipse">
            <a:avLst/>
          </a:prstGeom>
          <a:solidFill>
            <a:srgbClr val="C50F1F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Externally bound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383280" y="169164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CIB/NIDW/rail/CBS credentials · clustered Keycloak · bank CI runner · EAS/MDM signing. Mechanism: values-only RB-11A flip.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880360"/>
            <a:ext cx="256032" cy="256032"/>
          </a:xfrm>
          <a:prstGeom prst="ellipse">
            <a:avLst/>
          </a:prstGeom>
          <a:solidFill>
            <a:srgbClr val="3F51B5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80720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by decision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383280" y="2807208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 (D3) · Islamic Murabaha (phase 4) · outbox→Kafka · websockets. Revisit triggers documented.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995928"/>
            <a:ext cx="256032" cy="256032"/>
          </a:xfrm>
          <a:prstGeom prst="ellipse">
            <a:avLst/>
          </a:prstGeom>
          <a:solidFill>
            <a:srgbClr val="3F51B5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92277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UX-contract scope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83280" y="3922776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~120 prototype archetype screens remain badged reference layouts; conversion = the analytics workstream.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5111496"/>
            <a:ext cx="256032" cy="256032"/>
          </a:xfrm>
          <a:prstGeom prst="ellipse">
            <a:avLst/>
          </a:prstGeom>
          <a:solidFill>
            <a:srgbClr val="C50F1F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5038344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83280" y="5038344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Docker Desktop is crash-prone under build load — always-on demo should move to the bank k3s cluster.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ULMS v2.0 · October 2026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6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931920"/>
            <a:ext cx="5669280" cy="5669280"/>
          </a:xfrm>
          <a:prstGeom prst="ellipse">
            <a:avLst/>
          </a:prstGeom>
          <a:solidFill>
            <a:srgbClr val="3F51B5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920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stage: complete.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8803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execution and bank-bound cutover follow the go-live checklist and the RB-11A flip runbook.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9319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F0C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technical documentation: ULMS_v2_Technical_Documentation.docx (34 tables, 18 exhibits, provenance map)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F0C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traceable via SOURCES.md — re-verify in minutes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F0C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prototypes: localhost:8791/prototype (borrower) · /prototype/field (field ops)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Unisoft Systems Limited · October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ULMS v2.0 — Technical Presentation</dc:title>
  <dc:subject>PptxGenJS Presentation</dc:subject>
  <dc:creator>Unisoft Systems Limited</dc:creator>
  <cp:lastModifiedBy>Unisoft Systems Limited</cp:lastModifiedBy>
  <cp:revision>1</cp:revision>
  <dcterms:created xsi:type="dcterms:W3CDTF">2026-10-05T10:58:25Z</dcterms:created>
  <dcterms:modified xsi:type="dcterms:W3CDTF">2026-10-05T10:58:25Z</dcterms:modified>
</cp:coreProperties>
</file>