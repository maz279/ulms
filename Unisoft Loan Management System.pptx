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jp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28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47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Relationship Id="rId12" Type="http://schemas.openxmlformats.org/officeDocument/2006/relationships/image" Target="../media/image77.png"/><Relationship Id="rId13" Type="http://schemas.openxmlformats.org/officeDocument/2006/relationships/image" Target="../media/image78.png"/><Relationship Id="rId14" Type="http://schemas.openxmlformats.org/officeDocument/2006/relationships/image" Target="../media/image79.png"/><Relationship Id="rId15" Type="http://schemas.openxmlformats.org/officeDocument/2006/relationships/image" Target="../media/image80.png"/><Relationship Id="rId16" Type="http://schemas.openxmlformats.org/officeDocument/2006/relationships/image" Target="../media/image81.png"/><Relationship Id="rId17" Type="http://schemas.openxmlformats.org/officeDocument/2006/relationships/image" Target="../media/image82.png"/><Relationship Id="rId18" Type="http://schemas.openxmlformats.org/officeDocument/2006/relationships/image" Target="../media/image83.png"/><Relationship Id="rId19" Type="http://schemas.openxmlformats.org/officeDocument/2006/relationships/image" Target="../media/image84.png"/><Relationship Id="rId20" Type="http://schemas.openxmlformats.org/officeDocument/2006/relationships/image" Target="../media/image8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Relationship Id="rId14" Type="http://schemas.openxmlformats.org/officeDocument/2006/relationships/image" Target="../media/image98.png"/><Relationship Id="rId15" Type="http://schemas.openxmlformats.org/officeDocument/2006/relationships/image" Target="../media/image99.png"/><Relationship Id="rId16" Type="http://schemas.openxmlformats.org/officeDocument/2006/relationships/image" Target="../media/image100.png"/><Relationship Id="rId17" Type="http://schemas.openxmlformats.org/officeDocument/2006/relationships/image" Target="../media/image101.png"/><Relationship Id="rId18" Type="http://schemas.openxmlformats.org/officeDocument/2006/relationships/image" Target="../media/image102.png"/><Relationship Id="rId19" Type="http://schemas.openxmlformats.org/officeDocument/2006/relationships/image" Target="../media/image103.png"/><Relationship Id="rId20" Type="http://schemas.openxmlformats.org/officeDocument/2006/relationships/image" Target="../media/image104.png"/><Relationship Id="rId21" Type="http://schemas.openxmlformats.org/officeDocument/2006/relationships/image" Target="../media/image10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Relationship Id="rId8" Type="http://schemas.openxmlformats.org/officeDocument/2006/relationships/image" Target="../media/image112.png"/><Relationship Id="rId9" Type="http://schemas.openxmlformats.org/officeDocument/2006/relationships/image" Target="../media/image113.png"/><Relationship Id="rId10" Type="http://schemas.openxmlformats.org/officeDocument/2006/relationships/image" Target="../media/image76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72.png"/><Relationship Id="rId15" Type="http://schemas.openxmlformats.org/officeDocument/2006/relationships/image" Target="../media/image117.png"/><Relationship Id="rId16" Type="http://schemas.openxmlformats.org/officeDocument/2006/relationships/image" Target="../media/image118.png"/><Relationship Id="rId17" Type="http://schemas.openxmlformats.org/officeDocument/2006/relationships/image" Target="../media/image119.png"/><Relationship Id="rId18" Type="http://schemas.openxmlformats.org/officeDocument/2006/relationships/image" Target="../media/image120.png"/><Relationship Id="rId19" Type="http://schemas.openxmlformats.org/officeDocument/2006/relationships/image" Target="../media/image121.png"/><Relationship Id="rId20" Type="http://schemas.openxmlformats.org/officeDocument/2006/relationships/image" Target="../media/image122.png"/><Relationship Id="rId21" Type="http://schemas.openxmlformats.org/officeDocument/2006/relationships/image" Target="../media/image1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Relationship Id="rId8" Type="http://schemas.openxmlformats.org/officeDocument/2006/relationships/image" Target="../media/image130.png"/><Relationship Id="rId9" Type="http://schemas.openxmlformats.org/officeDocument/2006/relationships/image" Target="../media/image131.png"/><Relationship Id="rId10" Type="http://schemas.openxmlformats.org/officeDocument/2006/relationships/image" Target="../media/image132.png"/><Relationship Id="rId11" Type="http://schemas.openxmlformats.org/officeDocument/2006/relationships/image" Target="../media/image133.png"/><Relationship Id="rId12" Type="http://schemas.openxmlformats.org/officeDocument/2006/relationships/image" Target="../media/image134.png"/><Relationship Id="rId13" Type="http://schemas.openxmlformats.org/officeDocument/2006/relationships/image" Target="../media/image135.png"/><Relationship Id="rId14" Type="http://schemas.openxmlformats.org/officeDocument/2006/relationships/image" Target="../media/image136.png"/><Relationship Id="rId15" Type="http://schemas.openxmlformats.org/officeDocument/2006/relationships/image" Target="../media/image137.png"/><Relationship Id="rId16" Type="http://schemas.openxmlformats.org/officeDocument/2006/relationships/image" Target="../media/image138.png"/><Relationship Id="rId17" Type="http://schemas.openxmlformats.org/officeDocument/2006/relationships/image" Target="../media/image139.png"/><Relationship Id="rId18" Type="http://schemas.openxmlformats.org/officeDocument/2006/relationships/image" Target="../media/image140.png"/><Relationship Id="rId19" Type="http://schemas.openxmlformats.org/officeDocument/2006/relationships/image" Target="../media/image141.png"/><Relationship Id="rId20" Type="http://schemas.openxmlformats.org/officeDocument/2006/relationships/image" Target="../media/image142.png"/><Relationship Id="rId21" Type="http://schemas.openxmlformats.org/officeDocument/2006/relationships/image" Target="../media/image143.png"/><Relationship Id="rId22" Type="http://schemas.openxmlformats.org/officeDocument/2006/relationships/image" Target="../media/image144.png"/><Relationship Id="rId23" Type="http://schemas.openxmlformats.org/officeDocument/2006/relationships/image" Target="../media/image145.png"/><Relationship Id="rId24" Type="http://schemas.openxmlformats.org/officeDocument/2006/relationships/image" Target="../media/image146.png"/><Relationship Id="rId25" Type="http://schemas.openxmlformats.org/officeDocument/2006/relationships/image" Target="../media/image147.png"/><Relationship Id="rId26" Type="http://schemas.openxmlformats.org/officeDocument/2006/relationships/image" Target="../media/image148.png"/><Relationship Id="rId27" Type="http://schemas.openxmlformats.org/officeDocument/2006/relationships/image" Target="../media/image149.png"/><Relationship Id="rId28" Type="http://schemas.openxmlformats.org/officeDocument/2006/relationships/image" Target="../media/image150.png"/><Relationship Id="rId29" Type="http://schemas.openxmlformats.org/officeDocument/2006/relationships/image" Target="../media/image67.png"/><Relationship Id="rId30" Type="http://schemas.openxmlformats.org/officeDocument/2006/relationships/image" Target="../media/image15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Relationship Id="rId3" Type="http://schemas.openxmlformats.org/officeDocument/2006/relationships/image" Target="../media/image153.png"/><Relationship Id="rId4" Type="http://schemas.openxmlformats.org/officeDocument/2006/relationships/image" Target="../media/image88.png"/><Relationship Id="rId5" Type="http://schemas.openxmlformats.org/officeDocument/2006/relationships/image" Target="../media/image154.png"/><Relationship Id="rId6" Type="http://schemas.openxmlformats.org/officeDocument/2006/relationships/image" Target="../media/image155.png"/><Relationship Id="rId7" Type="http://schemas.openxmlformats.org/officeDocument/2006/relationships/image" Target="../media/image156.png"/><Relationship Id="rId8" Type="http://schemas.openxmlformats.org/officeDocument/2006/relationships/image" Target="../media/image157.png"/><Relationship Id="rId9" Type="http://schemas.openxmlformats.org/officeDocument/2006/relationships/image" Target="../media/image158.png"/><Relationship Id="rId10" Type="http://schemas.openxmlformats.org/officeDocument/2006/relationships/image" Target="../media/image159.png"/><Relationship Id="rId11" Type="http://schemas.openxmlformats.org/officeDocument/2006/relationships/image" Target="../media/image89.png"/><Relationship Id="rId12" Type="http://schemas.openxmlformats.org/officeDocument/2006/relationships/image" Target="../media/image160.png"/><Relationship Id="rId13" Type="http://schemas.openxmlformats.org/officeDocument/2006/relationships/image" Target="../media/image161.png"/><Relationship Id="rId14" Type="http://schemas.openxmlformats.org/officeDocument/2006/relationships/image" Target="../media/image162.png"/><Relationship Id="rId15" Type="http://schemas.openxmlformats.org/officeDocument/2006/relationships/image" Target="../media/image163.png"/><Relationship Id="rId16" Type="http://schemas.openxmlformats.org/officeDocument/2006/relationships/image" Target="../media/image164.png"/><Relationship Id="rId17" Type="http://schemas.openxmlformats.org/officeDocument/2006/relationships/image" Target="../media/image165.png"/><Relationship Id="rId18" Type="http://schemas.openxmlformats.org/officeDocument/2006/relationships/image" Target="../media/image166.png"/><Relationship Id="rId19" Type="http://schemas.openxmlformats.org/officeDocument/2006/relationships/image" Target="../media/image98.png"/><Relationship Id="rId20" Type="http://schemas.openxmlformats.org/officeDocument/2006/relationships/image" Target="../media/image167.png"/><Relationship Id="rId21" Type="http://schemas.openxmlformats.org/officeDocument/2006/relationships/image" Target="../media/image168.png"/><Relationship Id="rId22" Type="http://schemas.openxmlformats.org/officeDocument/2006/relationships/image" Target="../media/image169.png"/><Relationship Id="rId23" Type="http://schemas.openxmlformats.org/officeDocument/2006/relationships/image" Target="../media/image17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Relationship Id="rId3" Type="http://schemas.openxmlformats.org/officeDocument/2006/relationships/image" Target="../media/image172.png"/><Relationship Id="rId4" Type="http://schemas.openxmlformats.org/officeDocument/2006/relationships/image" Target="../media/image173.png"/><Relationship Id="rId5" Type="http://schemas.openxmlformats.org/officeDocument/2006/relationships/image" Target="../media/image174.png"/><Relationship Id="rId6" Type="http://schemas.openxmlformats.org/officeDocument/2006/relationships/image" Target="../media/image175.png"/><Relationship Id="rId7" Type="http://schemas.openxmlformats.org/officeDocument/2006/relationships/image" Target="../media/image176.png"/><Relationship Id="rId8" Type="http://schemas.openxmlformats.org/officeDocument/2006/relationships/image" Target="../media/image177.png"/><Relationship Id="rId9" Type="http://schemas.openxmlformats.org/officeDocument/2006/relationships/image" Target="../media/image178.png"/><Relationship Id="rId10" Type="http://schemas.openxmlformats.org/officeDocument/2006/relationships/image" Target="../media/image179.png"/><Relationship Id="rId11" Type="http://schemas.openxmlformats.org/officeDocument/2006/relationships/image" Target="../media/image180.png"/><Relationship Id="rId12" Type="http://schemas.openxmlformats.org/officeDocument/2006/relationships/image" Target="../media/image181.png"/><Relationship Id="rId13" Type="http://schemas.openxmlformats.org/officeDocument/2006/relationships/image" Target="../media/image182.png"/><Relationship Id="rId14" Type="http://schemas.openxmlformats.org/officeDocument/2006/relationships/image" Target="../media/image183.png"/><Relationship Id="rId15" Type="http://schemas.openxmlformats.org/officeDocument/2006/relationships/image" Target="../media/image184.png"/><Relationship Id="rId16" Type="http://schemas.openxmlformats.org/officeDocument/2006/relationships/image" Target="../media/image185.png"/><Relationship Id="rId17" Type="http://schemas.openxmlformats.org/officeDocument/2006/relationships/image" Target="../media/image8.png"/><Relationship Id="rId18" Type="http://schemas.openxmlformats.org/officeDocument/2006/relationships/image" Target="../media/image186.png"/><Relationship Id="rId19" Type="http://schemas.openxmlformats.org/officeDocument/2006/relationships/image" Target="../media/image187.png"/><Relationship Id="rId20" Type="http://schemas.openxmlformats.org/officeDocument/2006/relationships/image" Target="../media/image188.png"/><Relationship Id="rId21" Type="http://schemas.openxmlformats.org/officeDocument/2006/relationships/image" Target="../media/image189.png"/><Relationship Id="rId22" Type="http://schemas.openxmlformats.org/officeDocument/2006/relationships/image" Target="../media/image190.png"/><Relationship Id="rId23" Type="http://schemas.openxmlformats.org/officeDocument/2006/relationships/image" Target="../media/image191.png"/><Relationship Id="rId24" Type="http://schemas.openxmlformats.org/officeDocument/2006/relationships/image" Target="../media/image192.png"/><Relationship Id="rId25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png"/><Relationship Id="rId3" Type="http://schemas.openxmlformats.org/officeDocument/2006/relationships/image" Target="../media/image194.png"/><Relationship Id="rId4" Type="http://schemas.openxmlformats.org/officeDocument/2006/relationships/image" Target="../media/image195.png"/><Relationship Id="rId5" Type="http://schemas.openxmlformats.org/officeDocument/2006/relationships/image" Target="../media/image196.png"/><Relationship Id="rId6" Type="http://schemas.openxmlformats.org/officeDocument/2006/relationships/image" Target="../media/image197.png"/><Relationship Id="rId7" Type="http://schemas.openxmlformats.org/officeDocument/2006/relationships/image" Target="../media/image198.png"/><Relationship Id="rId8" Type="http://schemas.openxmlformats.org/officeDocument/2006/relationships/image" Target="../media/image199.png"/><Relationship Id="rId9" Type="http://schemas.openxmlformats.org/officeDocument/2006/relationships/image" Target="../media/image200.png"/><Relationship Id="rId10" Type="http://schemas.openxmlformats.org/officeDocument/2006/relationships/image" Target="../media/image201.png"/><Relationship Id="rId11" Type="http://schemas.openxmlformats.org/officeDocument/2006/relationships/image" Target="../media/image139.png"/><Relationship Id="rId12" Type="http://schemas.openxmlformats.org/officeDocument/2006/relationships/image" Target="../media/image202.png"/><Relationship Id="rId13" Type="http://schemas.openxmlformats.org/officeDocument/2006/relationships/image" Target="../media/image203.png"/><Relationship Id="rId14" Type="http://schemas.openxmlformats.org/officeDocument/2006/relationships/image" Target="../media/image204.png"/><Relationship Id="rId15" Type="http://schemas.openxmlformats.org/officeDocument/2006/relationships/image" Target="../media/image205.png"/><Relationship Id="rId16" Type="http://schemas.openxmlformats.org/officeDocument/2006/relationships/image" Target="../media/image206.png"/><Relationship Id="rId17" Type="http://schemas.openxmlformats.org/officeDocument/2006/relationships/image" Target="../media/image1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jpg"/><Relationship Id="rId3" Type="http://schemas.openxmlformats.org/officeDocument/2006/relationships/image" Target="../media/image208.png"/><Relationship Id="rId4" Type="http://schemas.openxmlformats.org/officeDocument/2006/relationships/image" Target="../media/image209.png"/><Relationship Id="rId5" Type="http://schemas.openxmlformats.org/officeDocument/2006/relationships/image" Target="../media/image210.png"/><Relationship Id="rId6" Type="http://schemas.openxmlformats.org/officeDocument/2006/relationships/image" Target="../media/image211.png"/><Relationship Id="rId7" Type="http://schemas.openxmlformats.org/officeDocument/2006/relationships/image" Target="../media/image212.png"/><Relationship Id="rId8" Type="http://schemas.openxmlformats.org/officeDocument/2006/relationships/image" Target="../media/image213.png"/><Relationship Id="rId9" Type="http://schemas.openxmlformats.org/officeDocument/2006/relationships/image" Target="../media/image137.png"/><Relationship Id="rId10" Type="http://schemas.openxmlformats.org/officeDocument/2006/relationships/image" Target="../media/image214.png"/><Relationship Id="rId11" Type="http://schemas.openxmlformats.org/officeDocument/2006/relationships/image" Target="../media/image215.png"/><Relationship Id="rId12" Type="http://schemas.openxmlformats.org/officeDocument/2006/relationships/image" Target="../media/image216.png"/><Relationship Id="rId13" Type="http://schemas.openxmlformats.org/officeDocument/2006/relationships/image" Target="../media/image217.png"/><Relationship Id="rId14" Type="http://schemas.openxmlformats.org/officeDocument/2006/relationships/image" Target="../media/image2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png"/><Relationship Id="rId3" Type="http://schemas.openxmlformats.org/officeDocument/2006/relationships/image" Target="../media/image220.png"/><Relationship Id="rId4" Type="http://schemas.openxmlformats.org/officeDocument/2006/relationships/image" Target="../media/image176.png"/><Relationship Id="rId5" Type="http://schemas.openxmlformats.org/officeDocument/2006/relationships/image" Target="../media/image221.png"/><Relationship Id="rId6" Type="http://schemas.openxmlformats.org/officeDocument/2006/relationships/image" Target="../media/image222.png"/><Relationship Id="rId7" Type="http://schemas.openxmlformats.org/officeDocument/2006/relationships/image" Target="../media/image223.png"/><Relationship Id="rId8" Type="http://schemas.openxmlformats.org/officeDocument/2006/relationships/image" Target="../media/image224.png"/><Relationship Id="rId9" Type="http://schemas.openxmlformats.org/officeDocument/2006/relationships/image" Target="../media/image225.png"/><Relationship Id="rId10" Type="http://schemas.openxmlformats.org/officeDocument/2006/relationships/image" Target="../media/image226.png"/><Relationship Id="rId11" Type="http://schemas.openxmlformats.org/officeDocument/2006/relationships/image" Target="../media/image227.png"/><Relationship Id="rId12" Type="http://schemas.openxmlformats.org/officeDocument/2006/relationships/image" Target="../media/image228.png"/><Relationship Id="rId13" Type="http://schemas.openxmlformats.org/officeDocument/2006/relationships/image" Target="../media/image229.png"/><Relationship Id="rId14" Type="http://schemas.openxmlformats.org/officeDocument/2006/relationships/image" Target="../media/image230.png"/><Relationship Id="rId15" Type="http://schemas.openxmlformats.org/officeDocument/2006/relationships/image" Target="../media/image231.png"/><Relationship Id="rId16" Type="http://schemas.openxmlformats.org/officeDocument/2006/relationships/image" Target="../media/image232.png"/><Relationship Id="rId17" Type="http://schemas.openxmlformats.org/officeDocument/2006/relationships/image" Target="../media/image233.png"/><Relationship Id="rId18" Type="http://schemas.openxmlformats.org/officeDocument/2006/relationships/image" Target="../media/image234.png"/><Relationship Id="rId19" Type="http://schemas.openxmlformats.org/officeDocument/2006/relationships/image" Target="../media/image235.png"/><Relationship Id="rId20" Type="http://schemas.openxmlformats.org/officeDocument/2006/relationships/image" Target="../media/image15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237.png"/><Relationship Id="rId4" Type="http://schemas.openxmlformats.org/officeDocument/2006/relationships/image" Target="../media/image238.png"/><Relationship Id="rId5" Type="http://schemas.openxmlformats.org/officeDocument/2006/relationships/image" Target="../media/image239.png"/><Relationship Id="rId6" Type="http://schemas.openxmlformats.org/officeDocument/2006/relationships/image" Target="../media/image240.png"/><Relationship Id="rId7" Type="http://schemas.openxmlformats.org/officeDocument/2006/relationships/image" Target="../media/image241.png"/><Relationship Id="rId8" Type="http://schemas.openxmlformats.org/officeDocument/2006/relationships/image" Target="../media/image242.png"/><Relationship Id="rId9" Type="http://schemas.openxmlformats.org/officeDocument/2006/relationships/image" Target="../media/image243.png"/><Relationship Id="rId10" Type="http://schemas.openxmlformats.org/officeDocument/2006/relationships/image" Target="../media/image244.png"/><Relationship Id="rId11" Type="http://schemas.openxmlformats.org/officeDocument/2006/relationships/image" Target="../media/image245.png"/><Relationship Id="rId12" Type="http://schemas.openxmlformats.org/officeDocument/2006/relationships/image" Target="../media/image246.png"/><Relationship Id="rId13" Type="http://schemas.openxmlformats.org/officeDocument/2006/relationships/image" Target="../media/image67.png"/><Relationship Id="rId14" Type="http://schemas.openxmlformats.org/officeDocument/2006/relationships/image" Target="../media/image24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jpg"/><Relationship Id="rId3" Type="http://schemas.openxmlformats.org/officeDocument/2006/relationships/image" Target="../media/image249.png"/><Relationship Id="rId4" Type="http://schemas.openxmlformats.org/officeDocument/2006/relationships/image" Target="../media/image250.png"/><Relationship Id="rId5" Type="http://schemas.openxmlformats.org/officeDocument/2006/relationships/image" Target="../media/image251.png"/><Relationship Id="rId6" Type="http://schemas.openxmlformats.org/officeDocument/2006/relationships/image" Target="../media/image252.png"/><Relationship Id="rId7" Type="http://schemas.openxmlformats.org/officeDocument/2006/relationships/image" Target="../media/image253.png"/><Relationship Id="rId8" Type="http://schemas.openxmlformats.org/officeDocument/2006/relationships/image" Target="../media/image254.png"/><Relationship Id="rId9" Type="http://schemas.openxmlformats.org/officeDocument/2006/relationships/image" Target="../media/image255.png"/><Relationship Id="rId10" Type="http://schemas.openxmlformats.org/officeDocument/2006/relationships/image" Target="../media/image256.png"/><Relationship Id="rId11" Type="http://schemas.openxmlformats.org/officeDocument/2006/relationships/image" Target="../media/image257.png"/><Relationship Id="rId12" Type="http://schemas.openxmlformats.org/officeDocument/2006/relationships/image" Target="../media/image18.png"/><Relationship Id="rId13" Type="http://schemas.openxmlformats.org/officeDocument/2006/relationships/image" Target="../media/image258.png"/><Relationship Id="rId14" Type="http://schemas.openxmlformats.org/officeDocument/2006/relationships/image" Target="../media/image259.png"/><Relationship Id="rId15" Type="http://schemas.openxmlformats.org/officeDocument/2006/relationships/image" Target="../media/image260.png"/><Relationship Id="rId16" Type="http://schemas.openxmlformats.org/officeDocument/2006/relationships/image" Target="../media/image261.png"/><Relationship Id="rId17" Type="http://schemas.openxmlformats.org/officeDocument/2006/relationships/image" Target="../media/image26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png"/><Relationship Id="rId3" Type="http://schemas.openxmlformats.org/officeDocument/2006/relationships/image" Target="../media/image2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png"/><Relationship Id="rId11" Type="http://schemas.openxmlformats.org/officeDocument/2006/relationships/image" Target="../media/image271.png"/><Relationship Id="rId12" Type="http://schemas.openxmlformats.org/officeDocument/2006/relationships/image" Target="../media/image272.png"/><Relationship Id="rId13" Type="http://schemas.openxmlformats.org/officeDocument/2006/relationships/image" Target="../media/image273.png"/><Relationship Id="rId14" Type="http://schemas.openxmlformats.org/officeDocument/2006/relationships/image" Target="../media/image274.png"/><Relationship Id="rId15" Type="http://schemas.openxmlformats.org/officeDocument/2006/relationships/image" Target="../media/image27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6.jpg"/><Relationship Id="rId3" Type="http://schemas.openxmlformats.org/officeDocument/2006/relationships/image" Target="../media/image277.png"/><Relationship Id="rId4" Type="http://schemas.openxmlformats.org/officeDocument/2006/relationships/image" Target="../media/image278.png"/><Relationship Id="rId5" Type="http://schemas.openxmlformats.org/officeDocument/2006/relationships/image" Target="../media/image279.png"/><Relationship Id="rId6" Type="http://schemas.openxmlformats.org/officeDocument/2006/relationships/image" Target="../media/image280.png"/><Relationship Id="rId7" Type="http://schemas.openxmlformats.org/officeDocument/2006/relationships/image" Target="../media/image281.png"/><Relationship Id="rId8" Type="http://schemas.openxmlformats.org/officeDocument/2006/relationships/image" Target="../media/image282.png"/><Relationship Id="rId9" Type="http://schemas.openxmlformats.org/officeDocument/2006/relationships/image" Target="../media/image283.png"/><Relationship Id="rId10" Type="http://schemas.openxmlformats.org/officeDocument/2006/relationships/image" Target="../media/image284.png"/><Relationship Id="rId11" Type="http://schemas.openxmlformats.org/officeDocument/2006/relationships/image" Target="../media/image285.png"/><Relationship Id="rId12" Type="http://schemas.openxmlformats.org/officeDocument/2006/relationships/image" Target="../media/image286.png"/><Relationship Id="rId13" Type="http://schemas.openxmlformats.org/officeDocument/2006/relationships/image" Target="../media/image287.png"/><Relationship Id="rId14" Type="http://schemas.openxmlformats.org/officeDocument/2006/relationships/image" Target="../media/image288.png"/><Relationship Id="rId15" Type="http://schemas.openxmlformats.org/officeDocument/2006/relationships/image" Target="../media/image289.png"/><Relationship Id="rId16" Type="http://schemas.openxmlformats.org/officeDocument/2006/relationships/image" Target="../media/image290.png"/><Relationship Id="rId17" Type="http://schemas.openxmlformats.org/officeDocument/2006/relationships/image" Target="../media/image29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2.jpg"/><Relationship Id="rId3" Type="http://schemas.openxmlformats.org/officeDocument/2006/relationships/image" Target="../media/image293.png"/><Relationship Id="rId4" Type="http://schemas.openxmlformats.org/officeDocument/2006/relationships/image" Target="../media/image294.png"/><Relationship Id="rId5" Type="http://schemas.openxmlformats.org/officeDocument/2006/relationships/image" Target="../media/image295.png"/><Relationship Id="rId6" Type="http://schemas.openxmlformats.org/officeDocument/2006/relationships/image" Target="../media/image296.png"/><Relationship Id="rId7" Type="http://schemas.openxmlformats.org/officeDocument/2006/relationships/image" Target="../media/image297.png"/><Relationship Id="rId8" Type="http://schemas.openxmlformats.org/officeDocument/2006/relationships/image" Target="../media/image298.png"/><Relationship Id="rId9" Type="http://schemas.openxmlformats.org/officeDocument/2006/relationships/image" Target="../media/image299.png"/><Relationship Id="rId10" Type="http://schemas.openxmlformats.org/officeDocument/2006/relationships/image" Target="../media/image240.png"/><Relationship Id="rId11" Type="http://schemas.openxmlformats.org/officeDocument/2006/relationships/image" Target="../media/image30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1.jpg"/><Relationship Id="rId3" Type="http://schemas.openxmlformats.org/officeDocument/2006/relationships/image" Target="../media/image302.png"/><Relationship Id="rId4" Type="http://schemas.openxmlformats.org/officeDocument/2006/relationships/image" Target="../media/image303.png"/><Relationship Id="rId5" Type="http://schemas.openxmlformats.org/officeDocument/2006/relationships/image" Target="../media/image304.png"/><Relationship Id="rId6" Type="http://schemas.openxmlformats.org/officeDocument/2006/relationships/image" Target="../media/image305.png"/><Relationship Id="rId7" Type="http://schemas.openxmlformats.org/officeDocument/2006/relationships/image" Target="../media/image306.png"/><Relationship Id="rId8" Type="http://schemas.openxmlformats.org/officeDocument/2006/relationships/image" Target="../media/image307.png"/><Relationship Id="rId9" Type="http://schemas.openxmlformats.org/officeDocument/2006/relationships/image" Target="../media/image308.png"/><Relationship Id="rId10" Type="http://schemas.openxmlformats.org/officeDocument/2006/relationships/image" Target="../media/image247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2.jpg"/><Relationship Id="rId3" Type="http://schemas.openxmlformats.org/officeDocument/2006/relationships/image" Target="../media/image313.png"/><Relationship Id="rId4" Type="http://schemas.openxmlformats.org/officeDocument/2006/relationships/image" Target="../media/image314.png"/><Relationship Id="rId5" Type="http://schemas.openxmlformats.org/officeDocument/2006/relationships/image" Target="../media/image315.png"/><Relationship Id="rId6" Type="http://schemas.openxmlformats.org/officeDocument/2006/relationships/image" Target="../media/image316.png"/><Relationship Id="rId7" Type="http://schemas.openxmlformats.org/officeDocument/2006/relationships/image" Target="../media/image317.png"/><Relationship Id="rId8" Type="http://schemas.openxmlformats.org/officeDocument/2006/relationships/image" Target="../media/image318.png"/><Relationship Id="rId9" Type="http://schemas.openxmlformats.org/officeDocument/2006/relationships/image" Target="../media/image319.png"/><Relationship Id="rId10" Type="http://schemas.openxmlformats.org/officeDocument/2006/relationships/image" Target="../media/image320.png"/><Relationship Id="rId11" Type="http://schemas.openxmlformats.org/officeDocument/2006/relationships/image" Target="../media/image321.png"/><Relationship Id="rId12" Type="http://schemas.openxmlformats.org/officeDocument/2006/relationships/image" Target="../media/image322.png"/><Relationship Id="rId13" Type="http://schemas.openxmlformats.org/officeDocument/2006/relationships/image" Target="../media/image323.png"/><Relationship Id="rId14" Type="http://schemas.openxmlformats.org/officeDocument/2006/relationships/image" Target="../media/image324.png"/><Relationship Id="rId15" Type="http://schemas.openxmlformats.org/officeDocument/2006/relationships/image" Target="../media/image3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6.png"/><Relationship Id="rId3" Type="http://schemas.openxmlformats.org/officeDocument/2006/relationships/image" Target="../media/image327.png"/><Relationship Id="rId4" Type="http://schemas.openxmlformats.org/officeDocument/2006/relationships/image" Target="../media/image266.png"/><Relationship Id="rId5" Type="http://schemas.openxmlformats.org/officeDocument/2006/relationships/image" Target="../media/image328.png"/><Relationship Id="rId6" Type="http://schemas.openxmlformats.org/officeDocument/2006/relationships/image" Target="../media/image329.png"/><Relationship Id="rId7" Type="http://schemas.openxmlformats.org/officeDocument/2006/relationships/image" Target="../media/image330.png"/><Relationship Id="rId8" Type="http://schemas.openxmlformats.org/officeDocument/2006/relationships/image" Target="../media/image3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100000">
                <a:srgbClr val="FAFAFF">
                  <a:alpha val="93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1E88E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33" y="1295399"/>
            <a:ext cx="3219369" cy="342900"/>
          </a:xfrm>
          <a:prstGeom prst="roundRect">
            <a:avLst>
              <a:gd name="adj" fmla="val 55550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1295399"/>
            <a:ext cx="321936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Enterprise-Grade Digital Lending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1943100"/>
            <a:ext cx="7934126" cy="1476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5005"/>
              </a:lnSpc>
              <a:spcBef>
                <a:spcPts val="0"/>
              </a:spcBef>
              <a:spcAft>
                <a:spcPts val="1560"/>
              </a:spcAft>
            </a:pPr>
            <a:r>
              <a:rPr sz="3707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 </a:t>
            </a:r>
            <a:r>
              <a:rPr sz="3707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UNISOFT LOAN</a:t>
            </a:r>
            <a:r>
              <a:rPr sz="3707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 </a:t>
            </a:r>
            <a:r>
              <a:rPr sz="1104"/>
              <a:t>
</a:t>
            </a:r>
            <a:r>
              <a:rPr sz="3707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 </a:t>
            </a:r>
            <a:r>
              <a:rPr sz="3707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MANAGEMENT SYSTEM</a:t>
            </a:r>
            <a:r>
              <a:rPr sz="3707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648074"/>
            <a:ext cx="793412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 Comprehensive Digital Lending Platform for </a:t>
            </a:r>
            <a:r>
              <a:rPr sz="1315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Bangladesh's Banking Sector</a:t>
            </a:r>
            <a:r>
              <a:rPr sz="1315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4362450"/>
            <a:ext cx="914377" cy="57150"/>
          </a:xfrm>
          <a:prstGeom prst="roundRect">
            <a:avLst>
              <a:gd name="adj" fmla="val 133333"/>
            </a:avLst>
          </a:prstGeom>
          <a:gradFill rotWithShape="1">
            <a:gsLst>
              <a:gs pos="0">
                <a:srgbClr val="3B82F6"/>
              </a:gs>
              <a:gs pos="100000">
                <a:srgbClr val="A855F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871561"/>
            <a:ext cx="228594" cy="1628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9624" y="4838699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85% Faster Processing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05232" y="4844415"/>
            <a:ext cx="228594" cy="2171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48123" y="4838699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100% BB Compliance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5347335"/>
            <a:ext cx="228594" cy="12572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9624" y="5295899"/>
            <a:ext cx="15334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95% Faster Decisions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705232" y="5317331"/>
            <a:ext cx="228594" cy="18573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48123" y="5295899"/>
            <a:ext cx="17906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80-90% Cost Advantage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100000">
                <a:srgbClr val="FAFAFF">
                  <a:alpha val="9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028" y="-142875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88E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14300"/>
            <a:ext cx="371465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1114425"/>
            <a:ext cx="566723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1040"/>
              </a:spcAft>
            </a:pPr>
            <a:r>
              <a:rPr sz="1554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Digital Banking Revolution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1704975"/>
            <a:ext cx="228594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1525" y="1647825"/>
            <a:ext cx="395277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Target: </a:t>
            </a:r>
            <a:r>
              <a:rPr sz="119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75% Cashless Transactions by 2027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2101215"/>
            <a:ext cx="228594" cy="2171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1525" y="2066924"/>
            <a:ext cx="327651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Mandatory: </a:t>
            </a:r>
            <a:r>
              <a:rPr sz="119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IFRS-9 ECL by Dec 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2590799"/>
            <a:ext cx="2762180" cy="1771650"/>
          </a:xfrm>
          <a:prstGeom prst="roundRect">
            <a:avLst>
              <a:gd name="adj" fmla="val 8602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153052" y="3410584"/>
            <a:ext cx="17716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2814054"/>
            <a:ext cx="285742" cy="2011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7228" y="3162299"/>
            <a:ext cx="2419289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260"/>
              </a:spcAft>
            </a:pPr>
            <a:r>
              <a:rPr sz="2152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28" y="3714750"/>
            <a:ext cx="241928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Faster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28" y="4010024"/>
            <a:ext cx="241928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7-15 days → &lt;48 hrs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81310" y="2590799"/>
            <a:ext cx="2762180" cy="1771650"/>
          </a:xfrm>
          <a:prstGeom prst="roundRect">
            <a:avLst>
              <a:gd name="adj" fmla="val 8602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2761525" y="3410584"/>
            <a:ext cx="17716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771805" y="2803848"/>
            <a:ext cx="285742" cy="2216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71805" y="3162299"/>
            <a:ext cx="2419289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805" y="3676649"/>
            <a:ext cx="241928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Faster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805" y="3971925"/>
            <a:ext cx="241928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3-5 days → &lt;30 mins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4514850"/>
            <a:ext cx="2762180" cy="1733550"/>
          </a:xfrm>
          <a:prstGeom prst="roundRect">
            <a:avLst>
              <a:gd name="adj" fmla="val 8791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-134002" y="5315585"/>
            <a:ext cx="1733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4710404"/>
            <a:ext cx="285742" cy="25659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57228" y="5086350"/>
            <a:ext cx="2419289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90%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228" y="5600700"/>
            <a:ext cx="241928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Error Reduction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28" y="5895974"/>
            <a:ext cx="241928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5-10% → &lt;1%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81310" y="4514850"/>
            <a:ext cx="2762180" cy="1733550"/>
          </a:xfrm>
          <a:prstGeom prst="roundRect">
            <a:avLst>
              <a:gd name="adj" fmla="val 8791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2780575" y="5315585"/>
            <a:ext cx="1733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771805" y="4722067"/>
            <a:ext cx="285742" cy="23326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771805" y="5086350"/>
            <a:ext cx="2419289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DD835"/>
                </a:solidFill>
                <a:latin typeface="DM Sans"/>
                <a:rFonts ascii="DM Sans" hAnsi="DM Sans" eastAsia="DM Sans" cs="DM Sans"/>
              </a:rPr>
              <a:t>80-90%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1805" y="5600700"/>
            <a:ext cx="241928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Cost Advantage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1805" y="5895974"/>
            <a:ext cx="241928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vs. International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3551" y="1114425"/>
            <a:ext cx="4581410" cy="3943350"/>
          </a:xfrm>
          <a:prstGeom prst="roundRect">
            <a:avLst>
              <a:gd name="adj" fmla="val 3864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4046" y="1343025"/>
            <a:ext cx="420041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ULMS vs. International Solutions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705532" y="4652682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972225" y="4610099"/>
            <a:ext cx="280027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100% Bangladesh Bank Compliant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534339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Bangladesh Banking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114425"/>
            <a:ext cx="541958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1040"/>
              </a:spcAft>
            </a:pPr>
            <a:r>
              <a:rPr sz="1554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Market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638299"/>
            <a:ext cx="2647883" cy="942975"/>
          </a:xfrm>
          <a:prstGeom prst="roundRect">
            <a:avLst>
              <a:gd name="adj" fmla="val 16161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61286" y="2043746"/>
            <a:ext cx="942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986254"/>
            <a:ext cx="285742" cy="2565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1070" y="1752599"/>
            <a:ext cx="135251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070" y="2209800"/>
            <a:ext cx="135251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Scheduled Banks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14" y="1638299"/>
            <a:ext cx="2647883" cy="942975"/>
          </a:xfrm>
          <a:prstGeom prst="roundRect">
            <a:avLst>
              <a:gd name="adj" fmla="val 16161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023467" y="2043746"/>
            <a:ext cx="942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81310" y="2035822"/>
            <a:ext cx="285742" cy="157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43251" y="1752599"/>
            <a:ext cx="143823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170M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3251" y="2209800"/>
            <a:ext cx="143823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Population Served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2809875"/>
            <a:ext cx="5419589" cy="2790824"/>
          </a:xfrm>
          <a:prstGeom prst="roundRect">
            <a:avLst>
              <a:gd name="adj" fmla="val 5460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28" y="3038475"/>
            <a:ext cx="503859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Digital Banking Roadmap 2025-2027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3486150"/>
            <a:ext cx="304792" cy="409574"/>
          </a:xfrm>
          <a:prstGeom prst="roundRect">
            <a:avLst>
              <a:gd name="adj" fmla="val 6249375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4377" y="3623422"/>
            <a:ext cx="190495" cy="1064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76318" y="3467100"/>
            <a:ext cx="218117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75% Cashless Transactions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3886" y="3486150"/>
            <a:ext cx="3619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2027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228" y="3990974"/>
            <a:ext cx="304792" cy="409574"/>
          </a:xfrm>
          <a:prstGeom prst="roundRect">
            <a:avLst>
              <a:gd name="adj" fmla="val 6249375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4377" y="4091827"/>
            <a:ext cx="190495" cy="179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76318" y="3971925"/>
            <a:ext cx="191447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IFRS-9 ECL Provisioning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0519" y="3981449"/>
            <a:ext cx="6953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Dec 2027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7228" y="4495799"/>
            <a:ext cx="304792" cy="409574"/>
          </a:xfrm>
          <a:prstGeom prst="roundRect">
            <a:avLst>
              <a:gd name="adj" fmla="val 6249375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4377" y="4610660"/>
            <a:ext cx="190495" cy="15127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76318" y="4476750"/>
            <a:ext cx="270503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Inclusive Instant Payment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1470" y="4495799"/>
            <a:ext cx="7048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July 2027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7228" y="5000625"/>
            <a:ext cx="304792" cy="409574"/>
          </a:xfrm>
          <a:prstGeom prst="roundRect">
            <a:avLst>
              <a:gd name="adj" fmla="val 62493750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14377" y="5101477"/>
            <a:ext cx="190495" cy="17929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76318" y="4981574"/>
            <a:ext cx="169540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AI Policy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4837" y="4991100"/>
            <a:ext cx="3809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2026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43511" y="1114425"/>
            <a:ext cx="4981450" cy="2419349"/>
          </a:xfrm>
          <a:prstGeom prst="roundRect">
            <a:avLst>
              <a:gd name="adj" fmla="val 6299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95907" y="1304925"/>
            <a:ext cx="467665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GDP Growth Trend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95907" y="1666874"/>
            <a:ext cx="4676658" cy="1714500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43511" y="3743325"/>
            <a:ext cx="4981450" cy="1857375"/>
          </a:xfrm>
          <a:prstGeom prst="roundRect">
            <a:avLst>
              <a:gd name="adj" fmla="val 8205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5680864" y="4605972"/>
            <a:ext cx="1857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772105" y="3979479"/>
            <a:ext cx="342891" cy="28969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229294" y="3933824"/>
            <a:ext cx="410517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Digital Transformation Imperative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9294" y="4295774"/>
            <a:ext cx="4105172" cy="11144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Bangladesh's banking sector requires modern, compliant, and scalable Loan Management Systems to meet regulatory mandates and customer expectations.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360035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Current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114425"/>
            <a:ext cx="566723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1040"/>
              </a:spcAft>
            </a:pPr>
            <a:r>
              <a:rPr sz="1554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Traditional Loan Management Pain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638299"/>
            <a:ext cx="2781230" cy="714375"/>
          </a:xfrm>
          <a:prstGeom prst="roundRect">
            <a:avLst>
              <a:gd name="adj" fmla="val 21333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75586" y="1929446"/>
            <a:ext cx="714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826895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1752599"/>
            <a:ext cx="150491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Slow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009774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7-15 days turnaround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2260" y="1638299"/>
            <a:ext cx="2781230" cy="714375"/>
          </a:xfrm>
          <a:prstGeom prst="roundRect">
            <a:avLst>
              <a:gd name="adj" fmla="val 21333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271113" y="1929446"/>
            <a:ext cx="714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714657" y="182689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19449" y="1752599"/>
            <a:ext cx="132394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High Error 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9449" y="2009774"/>
            <a:ext cx="13239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5-10% error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2466975"/>
            <a:ext cx="2781230" cy="714375"/>
          </a:xfrm>
          <a:prstGeom prst="roundRect">
            <a:avLst>
              <a:gd name="adj" fmla="val 21333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75586" y="2758122"/>
            <a:ext cx="714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2630805"/>
            <a:ext cx="228594" cy="2057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723" y="2581275"/>
            <a:ext cx="169540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CIB Delays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23" y="2838450"/>
            <a:ext cx="16954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30-60 minutes per loan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2260" y="2466975"/>
            <a:ext cx="2781230" cy="714375"/>
          </a:xfrm>
          <a:prstGeom prst="roundRect">
            <a:avLst>
              <a:gd name="adj" fmla="val 21333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271113" y="2758122"/>
            <a:ext cx="714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714657" y="2659856"/>
            <a:ext cx="228594" cy="18573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019449" y="2581275"/>
            <a:ext cx="159063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No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9449" y="2838450"/>
            <a:ext cx="15906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Status tracking absent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3295650"/>
            <a:ext cx="2781230" cy="714375"/>
          </a:xfrm>
          <a:prstGeom prst="roundRect">
            <a:avLst>
              <a:gd name="adj" fmla="val 21333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375586" y="3586797"/>
            <a:ext cx="714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9129" y="3488531"/>
            <a:ext cx="228594" cy="18573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23921" y="3409950"/>
            <a:ext cx="153348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Reactive NPA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3921" y="3667124"/>
            <a:ext cx="15334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Delayed identification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2260" y="3295650"/>
            <a:ext cx="2781230" cy="714375"/>
          </a:xfrm>
          <a:prstGeom prst="roundRect">
            <a:avLst>
              <a:gd name="adj" fmla="val 21333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3271113" y="3586797"/>
            <a:ext cx="714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714657" y="3484245"/>
            <a:ext cx="228594" cy="1943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019449" y="3409950"/>
            <a:ext cx="156206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Manual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19449" y="3667124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2-3 hours preparation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6733" y="4124324"/>
            <a:ext cx="5667233" cy="714375"/>
          </a:xfrm>
          <a:prstGeom prst="roundRect">
            <a:avLst>
              <a:gd name="adj" fmla="val 21333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375586" y="4415471"/>
            <a:ext cx="714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19129" y="4327207"/>
            <a:ext cx="228594" cy="16573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23921" y="4238624"/>
            <a:ext cx="337176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Communication Delays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3921" y="4495799"/>
            <a:ext cx="33717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File movement between branch and head office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43551" y="1123949"/>
            <a:ext cx="4581410" cy="3695699"/>
          </a:xfrm>
          <a:prstGeom prst="roundRect">
            <a:avLst>
              <a:gd name="adj" fmla="val 4123"/>
            </a:avLst>
          </a:prstGeom>
          <a:solidFill>
            <a:srgbClr val="FFFFFF">
              <a:alpha val="95000"/>
            </a:srgbClr>
          </a:solidFill>
          <a:ln w="330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172145" y="1423002"/>
            <a:ext cx="342891" cy="31629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629334" y="1400175"/>
            <a:ext cx="2085922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Impact Summary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72145" y="20002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229294" y="2099422"/>
            <a:ext cx="190495" cy="10645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591235" y="1962149"/>
            <a:ext cx="353368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Customer Experience Gap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91235" y="2247899"/>
            <a:ext cx="353368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Lengthy approval process causes frustration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72145" y="270509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229294" y="2788863"/>
            <a:ext cx="190495" cy="13727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591235" y="2667000"/>
            <a:ext cx="302887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Operational Inefficiency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91235" y="2952750"/>
            <a:ext cx="302887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Manual workflows reduce productivity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72145" y="339089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229294" y="3453652"/>
            <a:ext cx="190495" cy="17929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591235" y="3352800"/>
            <a:ext cx="273360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Compliance Risks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91235" y="3638550"/>
            <a:ext cx="273360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Manual preparation leads to errors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72145" y="409574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7229294" y="4162705"/>
            <a:ext cx="190495" cy="17088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591235" y="4057650"/>
            <a:ext cx="341938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High Operational Costs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91235" y="4343400"/>
            <a:ext cx="341938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Paper-based processes increase expenses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793412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Background of Loan Management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000125"/>
            <a:ext cx="6324441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351774" y="131508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9129" y="1114425"/>
            <a:ext cx="197162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Phase 1: Manual 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9" y="1428750"/>
            <a:ext cx="197162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Pre-2000s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9114" y="1247775"/>
            <a:ext cx="144776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E53935"/>
                </a:solidFill>
                <a:latin typeface="DM Sans"/>
                <a:rFonts ascii="DM Sans" hAnsi="DM Sans" eastAsia="DM Sans" cs="DM Sans"/>
              </a:rPr>
              <a:t>10-15% Error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362199"/>
            <a:ext cx="6324441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351774" y="26771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129" y="2476499"/>
            <a:ext cx="270503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Phase 2: Basic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" y="2790824"/>
            <a:ext cx="270503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2000-2010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705432" y="2670072"/>
            <a:ext cx="171445" cy="12720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66733" y="3714750"/>
            <a:ext cx="6324441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51774" y="40297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129" y="3829050"/>
            <a:ext cx="290505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Phase 3: Integrated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29" y="4143375"/>
            <a:ext cx="290505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2010-2020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05432" y="4021086"/>
            <a:ext cx="171445" cy="149327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66733" y="5076825"/>
            <a:ext cx="6324441" cy="876299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3B82F6"/>
              </a:gs>
              <a:gs pos="100000">
                <a:srgbClr val="A855F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129" y="5229225"/>
            <a:ext cx="402897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Phase 4: AI-Powered Digital Lending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29" y="5572125"/>
            <a:ext cx="40289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2020-Present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53036" y="5404173"/>
            <a:ext cx="285742" cy="22160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372165" y="1000125"/>
            <a:ext cx="4152796" cy="27432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524561" y="1264920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29354" y="1190625"/>
            <a:ext cx="225736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Bangladesh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24561" y="1647825"/>
            <a:ext cx="3848003" cy="914400"/>
          </a:xfrm>
          <a:prstGeom prst="roundRect">
            <a:avLst>
              <a:gd name="adj" fmla="val 16666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8859" y="1762125"/>
            <a:ext cx="361940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8859" y="2219324"/>
            <a:ext cx="36194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Scheduled Banks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24561" y="2676524"/>
            <a:ext cx="3848003" cy="914400"/>
          </a:xfrm>
          <a:prstGeom prst="roundRect">
            <a:avLst>
              <a:gd name="adj" fmla="val 16666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8859" y="2790824"/>
            <a:ext cx="361940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170M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8859" y="3248024"/>
            <a:ext cx="36194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Population Served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72165" y="3743325"/>
            <a:ext cx="4152796" cy="2209800"/>
          </a:xfrm>
          <a:prstGeom prst="roundRect">
            <a:avLst>
              <a:gd name="adj" fmla="val 6896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524561" y="4006691"/>
            <a:ext cx="228594" cy="19716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29354" y="3933824"/>
            <a:ext cx="31241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Digital Roadmap 2025-2027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24561" y="4391025"/>
            <a:ext cx="3848003" cy="419100"/>
          </a:xfrm>
          <a:prstGeom prst="roundRect">
            <a:avLst>
              <a:gd name="adj" fmla="val 36363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600759" y="4550799"/>
            <a:ext cx="171445" cy="9955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48403" y="4476750"/>
            <a:ext cx="201924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75% Cashless Transactions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4561" y="4886325"/>
            <a:ext cx="3848003" cy="419100"/>
          </a:xfrm>
          <a:prstGeom prst="roundRect">
            <a:avLst>
              <a:gd name="adj" fmla="val 36363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600759" y="5015680"/>
            <a:ext cx="171445" cy="16038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848403" y="4972050"/>
            <a:ext cx="169540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IFRS-9 ECL Mandatory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24561" y="5381624"/>
            <a:ext cx="3848003" cy="419100"/>
          </a:xfrm>
          <a:prstGeom prst="roundRect">
            <a:avLst>
              <a:gd name="adj" fmla="val 36363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600759" y="5513745"/>
            <a:ext cx="171445" cy="15485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848403" y="5467349"/>
            <a:ext cx="161920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Digital Bank Licensing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833416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How Banks Normally Manage Loan Processes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962024"/>
            <a:ext cx="5819629" cy="638175"/>
          </a:xfrm>
          <a:prstGeom prst="roundRect">
            <a:avLst>
              <a:gd name="adj" fmla="val 2388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413686" y="1215071"/>
            <a:ext cx="638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079" y="1057275"/>
            <a:ext cx="247643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Stage 1: Customer Requisition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1314450"/>
            <a:ext cx="24764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Branch Level • 1-2 days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162520" y="1193482"/>
            <a:ext cx="228594" cy="1657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6733" y="1704975"/>
            <a:ext cx="5819629" cy="638175"/>
          </a:xfrm>
          <a:prstGeom prst="roundRect">
            <a:avLst>
              <a:gd name="adj" fmla="val 2388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413686" y="1958022"/>
            <a:ext cx="638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79" y="1800225"/>
            <a:ext cx="182875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Stage 2: BOCC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2057400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Committee Meeting • 2-3 days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162520" y="1956435"/>
            <a:ext cx="228594" cy="12572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66733" y="2447924"/>
            <a:ext cx="5819629" cy="638175"/>
          </a:xfrm>
          <a:prstGeom prst="roundRect">
            <a:avLst>
              <a:gd name="adj" fmla="val 2388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413686" y="2700971"/>
            <a:ext cx="638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079" y="2543175"/>
            <a:ext cx="210497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Stage 3: Credit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79" y="2800350"/>
            <a:ext cx="21049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CIB Inquiry &amp; Assessment • 3-5 days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162520" y="2673667"/>
            <a:ext cx="228594" cy="17716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66733" y="3190874"/>
            <a:ext cx="5819629" cy="638175"/>
          </a:xfrm>
          <a:prstGeom prst="roundRect">
            <a:avLst>
              <a:gd name="adj" fmla="val 2388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413686" y="3443921"/>
            <a:ext cx="638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79" y="3286125"/>
            <a:ext cx="176208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Stage 4: HO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79" y="3543300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Multi-Level Review • 2-4 days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162520" y="3396615"/>
            <a:ext cx="228594" cy="21717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66733" y="3933824"/>
            <a:ext cx="5819629" cy="638175"/>
          </a:xfrm>
          <a:prstGeom prst="roundRect">
            <a:avLst>
              <a:gd name="adj" fmla="val 2388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413686" y="4186871"/>
            <a:ext cx="638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079" y="4029075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Stage 5: Disbursement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079" y="4286250"/>
            <a:ext cx="22859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Security Creation &amp; Payment • 2-3 days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162520" y="4165282"/>
            <a:ext cx="228594" cy="16573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66733" y="4667249"/>
            <a:ext cx="5819629" cy="638175"/>
          </a:xfrm>
          <a:prstGeom prst="roundRect">
            <a:avLst>
              <a:gd name="adj" fmla="val 2388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413686" y="4920296"/>
            <a:ext cx="638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079" y="4762500"/>
            <a:ext cx="257168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Stage 6: Servicing &amp; Collection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079" y="5019675"/>
            <a:ext cx="25716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Ongoing Monitoring &amp; Follow-up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162520" y="4902517"/>
            <a:ext cx="228594" cy="177164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6791155" y="962024"/>
            <a:ext cx="4733806" cy="2800350"/>
          </a:xfrm>
          <a:prstGeom prst="roundRect">
            <a:avLst>
              <a:gd name="adj" fmla="val 5442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943551" y="1231106"/>
            <a:ext cx="228594" cy="18573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248343" y="1152524"/>
            <a:ext cx="216212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Current Challenges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943551" y="1687461"/>
            <a:ext cx="171445" cy="1493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191195" y="1609724"/>
            <a:ext cx="166683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7-15 days turnaround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91195" y="1847849"/>
            <a:ext cx="166683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All loans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943551" y="2211336"/>
            <a:ext cx="171445" cy="14932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191195" y="2133599"/>
            <a:ext cx="128584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5-10% error 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91195" y="2371725"/>
            <a:ext cx="128584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High frequency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943551" y="2722920"/>
            <a:ext cx="171445" cy="15485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191195" y="2647949"/>
            <a:ext cx="149538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30-60 minutes CIB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91195" y="2895600"/>
            <a:ext cx="14953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Every loan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943551" y="3242801"/>
            <a:ext cx="171445" cy="14379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191195" y="3162299"/>
            <a:ext cx="1428714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No status tracking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91195" y="3409950"/>
            <a:ext cx="142871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Customer visibility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91155" y="3762374"/>
            <a:ext cx="4733806" cy="1543050"/>
          </a:xfrm>
          <a:prstGeom prst="roundRect">
            <a:avLst>
              <a:gd name="adj" fmla="val 9876"/>
            </a:avLst>
          </a:prstGeom>
          <a:gradFill rotWithShape="1">
            <a:gsLst>
              <a:gs pos="0">
                <a:srgbClr val="3B82F6"/>
              </a:gs>
              <a:gs pos="100000">
                <a:srgbClr val="A855F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943551" y="4007497"/>
            <a:ext cx="285742" cy="15745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305492" y="3914775"/>
            <a:ext cx="243833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Total Processing 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3551" y="4333875"/>
            <a:ext cx="4429014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17-29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3551" y="4867274"/>
            <a:ext cx="442901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Days Average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446711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ULMS Product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076325"/>
            <a:ext cx="541958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Enterprise-Grade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562100"/>
            <a:ext cx="5419589" cy="676274"/>
          </a:xfrm>
          <a:prstGeom prst="roundRect">
            <a:avLst>
              <a:gd name="adj" fmla="val 22535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94636" y="1834197"/>
            <a:ext cx="6762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079" y="1695449"/>
            <a:ext cx="304792" cy="409574"/>
          </a:xfrm>
          <a:prstGeom prst="roundRect">
            <a:avLst>
              <a:gd name="adj" fmla="val 6249375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1815913"/>
            <a:ext cx="190495" cy="1400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9169" y="1657350"/>
            <a:ext cx="477190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Presentation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169" y="1914525"/>
            <a:ext cx="47719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Web Portal • Mobile App • Customer Portal • Reporting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2314575"/>
            <a:ext cx="5419589" cy="676274"/>
          </a:xfrm>
          <a:prstGeom prst="roundRect">
            <a:avLst>
              <a:gd name="adj" fmla="val 22535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394636" y="2586672"/>
            <a:ext cx="6762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0079" y="2447924"/>
            <a:ext cx="304792" cy="409574"/>
          </a:xfrm>
          <a:prstGeom prst="roundRect">
            <a:avLst>
              <a:gd name="adj" fmla="val 6249375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2548777"/>
            <a:ext cx="190495" cy="1792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9169" y="2409825"/>
            <a:ext cx="477190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API Gateway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169" y="2667000"/>
            <a:ext cx="47719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Authentication • Authorization • Rate Limiting • Routing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3067050"/>
            <a:ext cx="5419589" cy="904874"/>
          </a:xfrm>
          <a:prstGeom prst="roundRect">
            <a:avLst>
              <a:gd name="adj" fmla="val 16842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280336" y="3453447"/>
            <a:ext cx="904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0079" y="3314700"/>
            <a:ext cx="304792" cy="409574"/>
          </a:xfrm>
          <a:prstGeom prst="roundRect">
            <a:avLst>
              <a:gd name="adj" fmla="val 6249375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3429560"/>
            <a:ext cx="190495" cy="1512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19169" y="3162299"/>
            <a:ext cx="477190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Business Services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169" y="3419474"/>
            <a:ext cx="477190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Customer • Loan • Credit • Collection • Document • Workflow • Product • Accounting • Reporting • Compliance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4048124"/>
            <a:ext cx="5419589" cy="676274"/>
          </a:xfrm>
          <a:prstGeom prst="roundRect">
            <a:avLst>
              <a:gd name="adj" fmla="val 22535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94636" y="4320221"/>
            <a:ext cx="6762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0079" y="4181474"/>
            <a:ext cx="304792" cy="409574"/>
          </a:xfrm>
          <a:prstGeom prst="roundRect">
            <a:avLst>
              <a:gd name="adj" fmla="val 6249375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7228" y="4289331"/>
            <a:ext cx="190495" cy="16528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19169" y="4143375"/>
            <a:ext cx="477190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Integration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9169" y="4400550"/>
            <a:ext cx="47719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CBS • CIB • NID/eKYC • AML • Payment Gateway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4800600"/>
            <a:ext cx="5419589" cy="676274"/>
          </a:xfrm>
          <a:prstGeom prst="roundRect">
            <a:avLst>
              <a:gd name="adj" fmla="val 22535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394636" y="5072697"/>
            <a:ext cx="6762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0079" y="4933950"/>
            <a:ext cx="304792" cy="409574"/>
          </a:xfrm>
          <a:prstGeom prst="roundRect">
            <a:avLst>
              <a:gd name="adj" fmla="val 6249375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5054413"/>
            <a:ext cx="190495" cy="14007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19169" y="4895849"/>
            <a:ext cx="477190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Data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9169" y="5153024"/>
            <a:ext cx="47719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PostgreSQL • Read Replicas • Encrypted Document Storage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3511" y="1076325"/>
            <a:ext cx="498145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Product Editions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43511" y="1562100"/>
            <a:ext cx="4981450" cy="781050"/>
          </a:xfrm>
          <a:prstGeom prst="roundRect">
            <a:avLst>
              <a:gd name="adj" fmla="val 19512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57808" y="1733550"/>
            <a:ext cx="380990" cy="485775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734006" y="1859280"/>
            <a:ext cx="228594" cy="20573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153096" y="1714500"/>
            <a:ext cx="425756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ULMS Standard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3096" y="2000250"/>
            <a:ext cx="42575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Small-Medium Banks • 1-50 Branches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43511" y="2438400"/>
            <a:ext cx="4981450" cy="781050"/>
          </a:xfrm>
          <a:prstGeom prst="roundRect">
            <a:avLst>
              <a:gd name="adj" fmla="val 19512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57808" y="2609850"/>
            <a:ext cx="380990" cy="485775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734006" y="2749867"/>
            <a:ext cx="228594" cy="17716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153096" y="2590799"/>
            <a:ext cx="425756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ULMS Enterprise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3096" y="2876549"/>
            <a:ext cx="42575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Large Banks • 50+ Branches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43511" y="3314700"/>
            <a:ext cx="4981450" cy="781050"/>
          </a:xfrm>
          <a:prstGeom prst="roundRect">
            <a:avLst>
              <a:gd name="adj" fmla="val 19512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657808" y="3486150"/>
            <a:ext cx="380990" cy="485775"/>
          </a:xfrm>
          <a:prstGeom prst="roundRect">
            <a:avLst>
              <a:gd name="adj" fmla="val 4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734006" y="3616166"/>
            <a:ext cx="228594" cy="19716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153096" y="3467100"/>
            <a:ext cx="425756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ULMS Islamic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53096" y="3752849"/>
            <a:ext cx="42575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Shariah-Compliant Banking • Any Size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43511" y="4190999"/>
            <a:ext cx="4981450" cy="781050"/>
          </a:xfrm>
          <a:prstGeom prst="roundRect">
            <a:avLst>
              <a:gd name="adj" fmla="val 19512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657808" y="4362450"/>
            <a:ext cx="380990" cy="485775"/>
          </a:xfrm>
          <a:prstGeom prst="roundRect">
            <a:avLst>
              <a:gd name="adj" fmla="val 4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734006" y="4482465"/>
            <a:ext cx="228594" cy="21717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153096" y="4343400"/>
            <a:ext cx="425756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ULMS Digital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53096" y="4629150"/>
            <a:ext cx="42575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Digital Banks/Fintechs • Virtual-First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43511" y="5086350"/>
            <a:ext cx="4981450" cy="685800"/>
          </a:xfrm>
          <a:prstGeom prst="roundRect">
            <a:avLst>
              <a:gd name="adj" fmla="val 22222"/>
            </a:avLst>
          </a:prstGeom>
          <a:solidFill>
            <a:srgbClr val="EFF6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 Same Side Corner Rectangle 57"/>
          <p:cNvSpPr/>
          <p:nvPr/>
        </p:nvSpPr>
        <p:spPr>
          <a:xfrm rot="16200000">
            <a:off x="6266651" y="536321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695907" y="5342404"/>
            <a:ext cx="190495" cy="17369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962600" y="5200650"/>
            <a:ext cx="444806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Regulatory-First Architecture • API-First Design • Cloud-Ready Scalability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56672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Key Features: Loan Origination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038224"/>
            <a:ext cx="4981450" cy="1571625"/>
          </a:xfrm>
          <a:prstGeom prst="roundRect">
            <a:avLst>
              <a:gd name="adj" fmla="val 9696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307782"/>
            <a:ext cx="228594" cy="165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1228725"/>
            <a:ext cx="166683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Digital Channels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9129" y="1657350"/>
            <a:ext cx="247643" cy="361950"/>
          </a:xfrm>
          <a:prstGeom prst="roundRect">
            <a:avLst>
              <a:gd name="adj" fmla="val 30769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1765197"/>
            <a:ext cx="171445" cy="1272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2971" y="1714500"/>
            <a:ext cx="88580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Web 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319" y="1657350"/>
            <a:ext cx="247643" cy="361950"/>
          </a:xfrm>
          <a:prstGeom prst="roundRect">
            <a:avLst>
              <a:gd name="adj" fmla="val 30769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238419" y="1765197"/>
            <a:ext cx="171445" cy="1272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24161" y="1714500"/>
            <a:ext cx="126679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Branch Console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129" y="2095499"/>
            <a:ext cx="247643" cy="361950"/>
          </a:xfrm>
          <a:prstGeom prst="roundRect">
            <a:avLst>
              <a:gd name="adj" fmla="val 30769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7228" y="2186755"/>
            <a:ext cx="171445" cy="1603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42971" y="2152650"/>
            <a:ext cx="97152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Mobile Field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319" y="2095499"/>
            <a:ext cx="247643" cy="361950"/>
          </a:xfrm>
          <a:prstGeom prst="roundRect">
            <a:avLst>
              <a:gd name="adj" fmla="val 30769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238419" y="2186755"/>
            <a:ext cx="171445" cy="1603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24161" y="2152650"/>
            <a:ext cx="100962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API Gateway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2762249"/>
            <a:ext cx="4981450" cy="1685925"/>
          </a:xfrm>
          <a:prstGeom prst="roundRect">
            <a:avLst>
              <a:gd name="adj" fmla="val 9039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19129" y="3042284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23921" y="2952750"/>
            <a:ext cx="141918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BOCC Module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19129" y="3440061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66773" y="3390899"/>
            <a:ext cx="148586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Meeting Scheduler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19129" y="3763911"/>
            <a:ext cx="171445" cy="14932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66773" y="3714750"/>
            <a:ext cx="168588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Agenda Management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19129" y="4093291"/>
            <a:ext cx="171445" cy="13826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66773" y="4038599"/>
            <a:ext cx="137156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Digital Signatures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05372" y="1038224"/>
            <a:ext cx="5419589" cy="1571625"/>
          </a:xfrm>
          <a:prstGeom prst="roundRect">
            <a:avLst>
              <a:gd name="adj" fmla="val 9696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257768" y="1282064"/>
            <a:ext cx="228594" cy="21717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562560" y="1228725"/>
            <a:ext cx="184780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e-KYC Integration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7768" y="1657350"/>
            <a:ext cx="247643" cy="361950"/>
          </a:xfrm>
          <a:prstGeom prst="roundRect">
            <a:avLst>
              <a:gd name="adj" fmla="val 30769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295867" y="1754136"/>
            <a:ext cx="171445" cy="1493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81610" y="1714500"/>
            <a:ext cx="124774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NID Verification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58028" y="1657350"/>
            <a:ext cx="247643" cy="361950"/>
          </a:xfrm>
          <a:prstGeom prst="roundRect">
            <a:avLst>
              <a:gd name="adj" fmla="val 30769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896127" y="1754136"/>
            <a:ext cx="171445" cy="1493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181870" y="1714500"/>
            <a:ext cx="134299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Biometric Check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57768" y="2095499"/>
            <a:ext cx="247643" cy="361950"/>
          </a:xfrm>
          <a:prstGeom prst="roundRect">
            <a:avLst>
              <a:gd name="adj" fmla="val 30769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295867" y="2186755"/>
            <a:ext cx="171445" cy="1603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1610" y="2152650"/>
            <a:ext cx="12858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OCR Processing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58028" y="2095499"/>
            <a:ext cx="247643" cy="361950"/>
          </a:xfrm>
          <a:prstGeom prst="roundRect">
            <a:avLst>
              <a:gd name="adj" fmla="val 30769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896127" y="2192286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181870" y="2152650"/>
            <a:ext cx="151443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Address Validation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05372" y="2762249"/>
            <a:ext cx="5419589" cy="1685925"/>
          </a:xfrm>
          <a:prstGeom prst="roundRect">
            <a:avLst>
              <a:gd name="adj" fmla="val 9039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257768" y="3022282"/>
            <a:ext cx="228594" cy="16573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562560" y="2952750"/>
            <a:ext cx="247643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Document Management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257768" y="3455270"/>
            <a:ext cx="171445" cy="11890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505412" y="3390899"/>
            <a:ext cx="160968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Document Checklist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6257768" y="3769441"/>
            <a:ext cx="171445" cy="13826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505412" y="3714750"/>
            <a:ext cx="122869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Version Control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6257768" y="4084995"/>
            <a:ext cx="171445" cy="15485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505412" y="4038599"/>
            <a:ext cx="162873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AES-256 Encryption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632444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Key Features: Credit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038224"/>
            <a:ext cx="5419589" cy="2886075"/>
          </a:xfrm>
          <a:prstGeom prst="roundRect">
            <a:avLst>
              <a:gd name="adj" fmla="val 5280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302067"/>
            <a:ext cx="228594" cy="177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1228725"/>
            <a:ext cx="221926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Credit Scoring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9129" y="1657350"/>
            <a:ext cx="323841" cy="361950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1765197"/>
            <a:ext cx="171445" cy="1272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9169" y="1714500"/>
            <a:ext cx="132394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Customer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9114" y="1666874"/>
            <a:ext cx="49528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20%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2095499"/>
            <a:ext cx="323841" cy="361950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2197816"/>
            <a:ext cx="171445" cy="1382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9169" y="2152650"/>
            <a:ext cx="145728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Financial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114" y="2105024"/>
            <a:ext cx="50481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30%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29" y="2533649"/>
            <a:ext cx="323841" cy="361950"/>
          </a:xfrm>
          <a:prstGeom prst="roundRect">
            <a:avLst>
              <a:gd name="adj" fmla="val 23529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2635966"/>
            <a:ext cx="171445" cy="1382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19169" y="2590799"/>
            <a:ext cx="110487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Credit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8163" y="2543175"/>
            <a:ext cx="47623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25%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129" y="2971800"/>
            <a:ext cx="323841" cy="361950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3076882"/>
            <a:ext cx="171445" cy="13273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19169" y="3028950"/>
            <a:ext cx="145728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Collateral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5312" y="2981325"/>
            <a:ext cx="42861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57C00"/>
                </a:solidFill>
                <a:latin typeface="DM Sans"/>
                <a:rFonts ascii="DM Sans" hAnsi="DM Sans" eastAsia="DM Sans" cs="DM Sans"/>
              </a:rPr>
              <a:t>15%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129" y="3409950"/>
            <a:ext cx="323841" cy="361950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5327" y="3512266"/>
            <a:ext cx="171445" cy="13826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19169" y="3467100"/>
            <a:ext cx="100962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Industry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262" y="3419474"/>
            <a:ext cx="44766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E53935"/>
                </a:solidFill>
                <a:latin typeface="DM Sans"/>
                <a:rFonts ascii="DM Sans" hAnsi="DM Sans" eastAsia="DM Sans" cs="DM Sans"/>
              </a:rPr>
              <a:t>10%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3924299"/>
            <a:ext cx="5419589" cy="12192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19129" y="4178617"/>
            <a:ext cx="228594" cy="1771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23921" y="4114800"/>
            <a:ext cx="205734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DBR/DTI Calculation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129" y="4524374"/>
            <a:ext cx="419089" cy="447675"/>
          </a:xfrm>
          <a:prstGeom prst="roundRect">
            <a:avLst>
              <a:gd name="adj" fmla="val 36363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33426" y="4680697"/>
            <a:ext cx="190495" cy="10645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14417" y="4505325"/>
            <a:ext cx="88580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DBR &lt; 50%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4417" y="4762500"/>
            <a:ext cx="88580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EMI/Income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8914" y="4524374"/>
            <a:ext cx="419089" cy="447675"/>
          </a:xfrm>
          <a:prstGeom prst="roundRect">
            <a:avLst>
              <a:gd name="adj" fmla="val 36363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3543211" y="4663888"/>
            <a:ext cx="190495" cy="14007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924201" y="4505325"/>
            <a:ext cx="93342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DTI &lt; 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4201" y="4762500"/>
            <a:ext cx="9334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Debt/Income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43511" y="1038224"/>
            <a:ext cx="4981450" cy="1724024"/>
          </a:xfrm>
          <a:prstGeom prst="roundRect">
            <a:avLst>
              <a:gd name="adj" fmla="val 8839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695907" y="1300638"/>
            <a:ext cx="228594" cy="1800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00699" y="1228725"/>
            <a:ext cx="153348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CIB Integration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695907" y="1728480"/>
            <a:ext cx="171445" cy="12443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943551" y="1657350"/>
            <a:ext cx="198115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Real-Time Online Inquiry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695907" y="2078293"/>
            <a:ext cx="171445" cy="1106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943551" y="2000250"/>
            <a:ext cx="249548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Individual &amp; Corporate Reports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695907" y="2399070"/>
            <a:ext cx="171445" cy="15485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943551" y="2343150"/>
            <a:ext cx="258121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Automated Score Interpretation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43511" y="3009900"/>
            <a:ext cx="4981450" cy="1381124"/>
          </a:xfrm>
          <a:prstGeom prst="roundRect">
            <a:avLst>
              <a:gd name="adj" fmla="val 11034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695907" y="3265170"/>
            <a:ext cx="228594" cy="19430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000699" y="3200400"/>
            <a:ext cx="265740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Contact Point Verification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695907" y="3691705"/>
            <a:ext cx="171445" cy="16038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943551" y="3638550"/>
            <a:ext cx="90485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Mobile App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9067573" y="3697236"/>
            <a:ext cx="171445" cy="14932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315217" y="3638550"/>
            <a:ext cx="98105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GPS Tagging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6695907" y="4045666"/>
            <a:ext cx="171445" cy="13826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3551" y="3981449"/>
            <a:ext cx="115249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Photo Capture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9067573" y="4045666"/>
            <a:ext cx="171445" cy="13826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315217" y="3981449"/>
            <a:ext cx="137156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Digital Signatures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43511" y="4648200"/>
            <a:ext cx="4981450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 rot="16200000">
            <a:off x="6361902" y="4829809"/>
            <a:ext cx="495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6695907" y="4820210"/>
            <a:ext cx="190495" cy="15127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962600" y="4762500"/>
            <a:ext cx="411469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95% Faster Decisions • Instant Credit Assessment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73816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Key Features: Approval &amp; Disbursement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038224"/>
            <a:ext cx="5200519" cy="2562224"/>
          </a:xfrm>
          <a:prstGeom prst="roundRect">
            <a:avLst>
              <a:gd name="adj" fmla="val 5947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292066"/>
            <a:ext cx="228594" cy="1971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1228725"/>
            <a:ext cx="278123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7-Level Approval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9" y="1619250"/>
            <a:ext cx="13810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Branch Credit 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777" y="1619250"/>
            <a:ext cx="8096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5 Lakh BDT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29" y="1885950"/>
            <a:ext cx="11429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Branch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8103" y="1885950"/>
            <a:ext cx="8667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10 Lakh BDT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2152650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Regional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9529" y="2152650"/>
            <a:ext cx="8953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25 Lakh BDT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29" y="2419349"/>
            <a:ext cx="10286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Head of Credit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6202" y="2419349"/>
            <a:ext cx="8286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1 Crore BDT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29" y="2686050"/>
            <a:ext cx="12763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Credit Committee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8103" y="2686050"/>
            <a:ext cx="8667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5 Crore BDT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29" y="2952750"/>
            <a:ext cx="7905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Deputy 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1430" y="2952750"/>
            <a:ext cx="9334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10 Crore BDT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29" y="3219449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Managing Director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8103" y="3219449"/>
            <a:ext cx="8667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Above 10 Cr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3714750"/>
            <a:ext cx="5200519" cy="1685925"/>
          </a:xfrm>
          <a:prstGeom prst="roundRect">
            <a:avLst>
              <a:gd name="adj" fmla="val 9039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96049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3905249"/>
            <a:ext cx="19144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Workflow Features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359991"/>
            <a:ext cx="171445" cy="13826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28674" y="4314825"/>
            <a:ext cx="13906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Configurable Limits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305092" y="4365522"/>
            <a:ext cx="171445" cy="1272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14637" y="4314825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Parallel Processing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9129" y="4708422"/>
            <a:ext cx="171445" cy="1272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28674" y="4657725"/>
            <a:ext cx="11620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Escalation Rules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305092" y="4716718"/>
            <a:ext cx="171445" cy="1106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514637" y="4657725"/>
            <a:ext cx="7715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Delegation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19129" y="5051322"/>
            <a:ext cx="171445" cy="12720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28674" y="5000625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Conditional Approval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3305092" y="5045791"/>
            <a:ext cx="171445" cy="13826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514637" y="5000625"/>
            <a:ext cx="12477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Digital Signatures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4441" y="1038224"/>
            <a:ext cx="5200519" cy="1971675"/>
          </a:xfrm>
          <a:prstGeom prst="roundRect">
            <a:avLst>
              <a:gd name="adj" fmla="val 7729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76838" y="1307782"/>
            <a:ext cx="228594" cy="16573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81630" y="1228725"/>
            <a:ext cx="240976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Disbursement Methods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76838" y="1619250"/>
            <a:ext cx="247643" cy="361950"/>
          </a:xfrm>
          <a:prstGeom prst="roundRect">
            <a:avLst>
              <a:gd name="adj" fmla="val 30769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14937" y="1713270"/>
            <a:ext cx="171445" cy="15485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00679" y="1685925"/>
            <a:ext cx="10953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Account Credit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2800" y="1619250"/>
            <a:ext cx="247643" cy="361950"/>
          </a:xfrm>
          <a:prstGeom prst="roundRect">
            <a:avLst>
              <a:gd name="adj" fmla="val 30769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000899" y="1735393"/>
            <a:ext cx="171445" cy="1106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286642" y="1685925"/>
            <a:ext cx="10858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BEFTN Transfer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76838" y="2057400"/>
            <a:ext cx="247643" cy="361950"/>
          </a:xfrm>
          <a:prstGeom prst="roundRect">
            <a:avLst>
              <a:gd name="adj" fmla="val 30769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514937" y="2148655"/>
            <a:ext cx="171445" cy="16038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800679" y="2124075"/>
            <a:ext cx="4381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bKash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62800" y="2057400"/>
            <a:ext cx="247643" cy="361950"/>
          </a:xfrm>
          <a:prstGeom prst="roundRect">
            <a:avLst>
              <a:gd name="adj" fmla="val 30769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9000899" y="2148655"/>
            <a:ext cx="171445" cy="16038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286642" y="2124075"/>
            <a:ext cx="4571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Nagad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76838" y="2495550"/>
            <a:ext cx="247643" cy="361950"/>
          </a:xfrm>
          <a:prstGeom prst="roundRect">
            <a:avLst>
              <a:gd name="adj" fmla="val 30769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514937" y="2586805"/>
            <a:ext cx="171445" cy="16038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800679" y="2562224"/>
            <a:ext cx="4857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Rocket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62800" y="2495550"/>
            <a:ext cx="247643" cy="361950"/>
          </a:xfrm>
          <a:prstGeom prst="roundRect">
            <a:avLst>
              <a:gd name="adj" fmla="val 30769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9000899" y="2613076"/>
            <a:ext cx="171445" cy="10784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286642" y="2562224"/>
            <a:ext cx="11334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Check Payment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24441" y="3124200"/>
            <a:ext cx="5200519" cy="1971675"/>
          </a:xfrm>
          <a:prstGeom prst="roundRect">
            <a:avLst>
              <a:gd name="adj" fmla="val 7729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476838" y="3369945"/>
            <a:ext cx="228594" cy="19430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781630" y="3314700"/>
            <a:ext cx="159063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Sanction Letter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476838" y="3758380"/>
            <a:ext cx="171445" cy="16038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724481" y="3724274"/>
            <a:ext cx="12286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Auto-Generation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476838" y="4093291"/>
            <a:ext cx="171445" cy="13826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724481" y="4048124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Customizable Templates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6476838" y="4422672"/>
            <a:ext cx="171445" cy="12720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724481" y="4371975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Email/SMS Delivery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6476838" y="4740991"/>
            <a:ext cx="171445" cy="13826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724481" y="4695824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Acceptance Tracking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24441" y="5210174"/>
            <a:ext cx="5200519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 Same Side Corner Rectangle 69"/>
          <p:cNvSpPr/>
          <p:nvPr/>
        </p:nvSpPr>
        <p:spPr>
          <a:xfrm rot="16200000">
            <a:off x="6142832" y="5391783"/>
            <a:ext cx="495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6476838" y="5376582"/>
            <a:ext cx="190495" cy="16248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43531" y="5334000"/>
            <a:ext cx="392420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70% Faster Approval • Same-Day Disbursement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671495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Key Features: Servicing &amp; Collection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000125"/>
            <a:ext cx="5200519" cy="923924"/>
          </a:xfrm>
          <a:prstGeom prst="roundRect">
            <a:avLst>
              <a:gd name="adj" fmla="val 16494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1263463"/>
            <a:ext cx="190495" cy="140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7723" y="1171575"/>
            <a:ext cx="258121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Repayment Management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1616528"/>
            <a:ext cx="152396" cy="1197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1562100"/>
            <a:ext cx="6000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EMI Calc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2466913" y="1619250"/>
            <a:ext cx="152396" cy="114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57408" y="1562100"/>
            <a:ext cx="8286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Multi-Mode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124221" y="1620610"/>
            <a:ext cx="152396" cy="11157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14717" y="1562100"/>
            <a:ext cx="8572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Prepayment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2019299"/>
            <a:ext cx="5200519" cy="1209674"/>
          </a:xfrm>
          <a:prstGeom prst="roundRect">
            <a:avLst>
              <a:gd name="adj" fmla="val 12598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0079" y="2257705"/>
            <a:ext cx="190495" cy="17088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7723" y="2190749"/>
            <a:ext cx="227641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Account Management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0079" y="2630260"/>
            <a:ext cx="152396" cy="1306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0575" y="2581275"/>
            <a:ext cx="8191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Statements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295567" y="2643867"/>
            <a:ext cx="152396" cy="10341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86062" y="2581275"/>
            <a:ext cx="10762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Balance Inquiry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00079" y="2921453"/>
            <a:ext cx="152396" cy="11974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90575" y="2867025"/>
            <a:ext cx="13620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Transaction History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3295567" y="2937782"/>
            <a:ext cx="152396" cy="870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486062" y="2867025"/>
            <a:ext cx="8953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Interest Calc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3324225"/>
            <a:ext cx="5200519" cy="1209674"/>
          </a:xfrm>
          <a:prstGeom prst="roundRect">
            <a:avLst>
              <a:gd name="adj" fmla="val 12598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00079" y="3593166"/>
            <a:ext cx="190495" cy="12886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47723" y="3495675"/>
            <a:ext cx="194305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Loan Modifications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00079" y="3927021"/>
            <a:ext cx="152396" cy="14695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0575" y="3886200"/>
            <a:ext cx="9334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Rescheduling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2466913" y="3943350"/>
            <a:ext cx="152396" cy="1143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657408" y="3886200"/>
            <a:ext cx="9429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Restructuring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4124221" y="3935185"/>
            <a:ext cx="152396" cy="1306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314717" y="3886200"/>
            <a:ext cx="5238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Top-up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00079" y="4237264"/>
            <a:ext cx="152396" cy="9797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90575" y="4171950"/>
            <a:ext cx="88580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Rate Change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2466913" y="4220935"/>
            <a:ext cx="152396" cy="1306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57408" y="4171950"/>
            <a:ext cx="9715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Tenor Change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4124221" y="4219575"/>
            <a:ext cx="152396" cy="13334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314717" y="4171950"/>
            <a:ext cx="8191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Moratorium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24441" y="1000125"/>
            <a:ext cx="5200519" cy="1209674"/>
          </a:xfrm>
          <a:prstGeom prst="roundRect">
            <a:avLst>
              <a:gd name="adj" fmla="val 12598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6457788" y="1255058"/>
            <a:ext cx="190495" cy="15688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05432" y="1171575"/>
            <a:ext cx="343843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NPA Management (BRPD 15/2024)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6457788" y="1611085"/>
            <a:ext cx="152396" cy="13062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48283" y="1562100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Auto Classification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8953276" y="1616528"/>
            <a:ext cx="152396" cy="11974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143771" y="1562100"/>
            <a:ext cx="12001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Provisioning Calc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6457788" y="1896835"/>
            <a:ext cx="152396" cy="13062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48283" y="1847849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Write-off Process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8953276" y="1896835"/>
            <a:ext cx="152396" cy="13062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143771" y="1847849"/>
            <a:ext cx="10667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Recovery Track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24441" y="2552700"/>
            <a:ext cx="5200519" cy="1209674"/>
          </a:xfrm>
          <a:prstGeom prst="roundRect">
            <a:avLst>
              <a:gd name="adj" fmla="val 12598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4">
            <a:alphaModFix amt="100000"/>
          </a:blip>
          <a:stretch>
            <a:fillRect/>
          </a:stretch>
        </p:blipFill>
        <p:spPr>
          <a:xfrm>
            <a:off x="6457788" y="2800910"/>
            <a:ext cx="190495" cy="15127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705432" y="2724150"/>
            <a:ext cx="206687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Collection Workflow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5">
            <a:alphaModFix amt="100000"/>
          </a:blip>
          <a:stretch>
            <a:fillRect/>
          </a:stretch>
        </p:blipFill>
        <p:spPr>
          <a:xfrm>
            <a:off x="6457788" y="3154135"/>
            <a:ext cx="152396" cy="13062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648283" y="3105149"/>
            <a:ext cx="9239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DPD Tracking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6">
            <a:alphaModFix amt="100000"/>
          </a:blip>
          <a:stretch>
            <a:fillRect/>
          </a:stretch>
        </p:blipFill>
        <p:spPr>
          <a:xfrm>
            <a:off x="8953276" y="3154135"/>
            <a:ext cx="152396" cy="13062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143771" y="3105149"/>
            <a:ext cx="11239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Auto Reminders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7">
            <a:alphaModFix amt="100000"/>
          </a:blip>
          <a:stretch>
            <a:fillRect/>
          </a:stretch>
        </p:blipFill>
        <p:spPr>
          <a:xfrm>
            <a:off x="6457788" y="3439885"/>
            <a:ext cx="152396" cy="13062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648283" y="3390899"/>
            <a:ext cx="7619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Field Visits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8">
            <a:alphaModFix amt="100000"/>
          </a:blip>
          <a:stretch>
            <a:fillRect/>
          </a:stretch>
        </p:blipFill>
        <p:spPr>
          <a:xfrm>
            <a:off x="8953276" y="3439885"/>
            <a:ext cx="152396" cy="13062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143771" y="3390899"/>
            <a:ext cx="10667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Recovery Track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24441" y="4095749"/>
            <a:ext cx="5200519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 Same Side Corner Rectangle 62"/>
          <p:cNvSpPr/>
          <p:nvPr/>
        </p:nvSpPr>
        <p:spPr>
          <a:xfrm rot="16200000">
            <a:off x="6123782" y="4296408"/>
            <a:ext cx="533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9">
            <a:alphaModFix amt="100000"/>
          </a:blip>
          <a:stretch>
            <a:fillRect/>
          </a:stretch>
        </p:blipFill>
        <p:spPr>
          <a:xfrm>
            <a:off x="6495887" y="4275604"/>
            <a:ext cx="190495" cy="173691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762580" y="4229100"/>
            <a:ext cx="252406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100% BRPD 15/2024 Compliant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30">
            <a:alphaModFix amt="100000"/>
          </a:blip>
          <a:stretch>
            <a:fillRect/>
          </a:stretch>
        </p:blipFill>
        <p:spPr>
          <a:xfrm>
            <a:off x="9439039" y="4309222"/>
            <a:ext cx="190495" cy="106455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705732" y="4229100"/>
            <a:ext cx="168588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15% Better Recovery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414327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Product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038224"/>
            <a:ext cx="5238619" cy="2162174"/>
          </a:xfrm>
          <a:prstGeom prst="roundRect">
            <a:avLst>
              <a:gd name="adj" fmla="val 7048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303020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1228725"/>
            <a:ext cx="229546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Retail Loan Products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1774722"/>
            <a:ext cx="171445" cy="1272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1685925"/>
            <a:ext cx="191447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Personal Loan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1943100"/>
            <a:ext cx="19144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50K-10L BDT • 12-60 months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324141" y="1771957"/>
            <a:ext cx="171445" cy="1327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52736" y="1685925"/>
            <a:ext cx="168588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Home Loan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2736" y="1943100"/>
            <a:ext cx="168588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10L-3Cr BDT • 5-20 years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2319030"/>
            <a:ext cx="171445" cy="1244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7723" y="2228850"/>
            <a:ext cx="145728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Auto Loan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23" y="2495550"/>
            <a:ext cx="14572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5L-1Cr BDT • 1-5 years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324141" y="2312116"/>
            <a:ext cx="171445" cy="1382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52736" y="2228850"/>
            <a:ext cx="160015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Education Loan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736" y="2495550"/>
            <a:ext cx="16001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50K-20L BDT • 1-7 years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19129" y="2851047"/>
            <a:ext cx="171445" cy="1272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47723" y="2781300"/>
            <a:ext cx="154301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Consumer Durable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324141" y="2851047"/>
            <a:ext cx="171445" cy="1272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52736" y="2781300"/>
            <a:ext cx="96200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Credit Card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3314700"/>
            <a:ext cx="5238619" cy="1752599"/>
          </a:xfrm>
          <a:prstGeom prst="roundRect">
            <a:avLst>
              <a:gd name="adj" fmla="val 8695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19129" y="3588067"/>
            <a:ext cx="228594" cy="1771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23921" y="3505199"/>
            <a:ext cx="30002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SME/Commercial Products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19129" y="4026616"/>
            <a:ext cx="171445" cy="13826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47723" y="3962399"/>
            <a:ext cx="131441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Working Capital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3324141" y="4045974"/>
            <a:ext cx="171445" cy="9955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52736" y="3962399"/>
            <a:ext cx="84770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Term Loan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19129" y="4375047"/>
            <a:ext cx="171445" cy="12720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47723" y="4305300"/>
            <a:ext cx="116202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Trade Finance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3324141" y="4369516"/>
            <a:ext cx="171445" cy="13826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552736" y="4305300"/>
            <a:ext cx="12858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Project Finance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19129" y="4715182"/>
            <a:ext cx="171445" cy="13273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47723" y="4648200"/>
            <a:ext cx="117154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Lease Finance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6342" y="1038224"/>
            <a:ext cx="5238619" cy="4105274"/>
          </a:xfrm>
          <a:prstGeom prst="roundRect">
            <a:avLst>
              <a:gd name="adj" fmla="val 3712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438739" y="1301591"/>
            <a:ext cx="228594" cy="19716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43531" y="1228725"/>
            <a:ext cx="281932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Islamic Banking Products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38739" y="1685925"/>
            <a:ext cx="285742" cy="400050"/>
          </a:xfrm>
          <a:prstGeom prst="roundRect">
            <a:avLst>
              <a:gd name="adj" fmla="val 53333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495887" y="1807291"/>
            <a:ext cx="171445" cy="13826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19729" y="1685925"/>
            <a:ext cx="130489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Murabaha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9729" y="1943100"/>
            <a:ext cx="130489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Cost-plus financing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38739" y="2247899"/>
            <a:ext cx="285742" cy="400050"/>
          </a:xfrm>
          <a:prstGeom prst="roundRect">
            <a:avLst>
              <a:gd name="adj" fmla="val 53333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495887" y="2388624"/>
            <a:ext cx="171445" cy="9955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819729" y="2247899"/>
            <a:ext cx="110487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Ijara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9729" y="2514600"/>
            <a:ext cx="11048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Leasing contract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38739" y="2819399"/>
            <a:ext cx="285742" cy="400050"/>
          </a:xfrm>
          <a:prstGeom prst="roundRect">
            <a:avLst>
              <a:gd name="adj" fmla="val 53333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6495887" y="2954593"/>
            <a:ext cx="171445" cy="11061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819729" y="2819399"/>
            <a:ext cx="167635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Musharaka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9729" y="3076574"/>
            <a:ext cx="167635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Joint venture partnership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38739" y="3390899"/>
            <a:ext cx="285742" cy="400050"/>
          </a:xfrm>
          <a:prstGeom prst="roundRect">
            <a:avLst>
              <a:gd name="adj" fmla="val 53333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6495887" y="3531624"/>
            <a:ext cx="171445" cy="9955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819729" y="3390899"/>
            <a:ext cx="172398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Mudaraba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9729" y="3638550"/>
            <a:ext cx="17239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Profit-sharing partnership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38739" y="3952874"/>
            <a:ext cx="285742" cy="400050"/>
          </a:xfrm>
          <a:prstGeom prst="roundRect">
            <a:avLst>
              <a:gd name="adj" fmla="val 53333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6495887" y="4072859"/>
            <a:ext cx="171445" cy="14103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819729" y="3952874"/>
            <a:ext cx="147633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Istisna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19729" y="4210049"/>
            <a:ext cx="147633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Manufacturing finance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38739" y="4514850"/>
            <a:ext cx="285742" cy="400050"/>
          </a:xfrm>
          <a:prstGeom prst="roundRect">
            <a:avLst>
              <a:gd name="adj" fmla="val 53333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6495887" y="4641747"/>
            <a:ext cx="171445" cy="12720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819729" y="4514850"/>
            <a:ext cx="151443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Bai-Muajjal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19729" y="4781549"/>
            <a:ext cx="151443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Deferred sale financing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86342" y="5257800"/>
            <a:ext cx="5238619" cy="781050"/>
          </a:xfrm>
          <a:prstGeom prst="roundRect">
            <a:avLst>
              <a:gd name="adj" fmla="val 19512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5961857" y="5582285"/>
            <a:ext cx="781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6457788" y="5567082"/>
            <a:ext cx="190495" cy="162485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724481" y="5391150"/>
            <a:ext cx="4667133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Configurable Parameters: Amount, Tenor, Interest, Repayment, Charges, Security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406707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Analytics &amp;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000125"/>
            <a:ext cx="5238619" cy="1685925"/>
          </a:xfrm>
          <a:prstGeom prst="roundRect">
            <a:avLst>
              <a:gd name="adj" fmla="val 9039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273492"/>
            <a:ext cx="228594" cy="177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1190625"/>
            <a:ext cx="254311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Real-Time Dashboards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1702253"/>
            <a:ext cx="152396" cy="138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9624" y="1647825"/>
            <a:ext cx="136204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Portfolio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324141" y="1702253"/>
            <a:ext cx="152396" cy="138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14637" y="1647825"/>
            <a:ext cx="148586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Application Pipeline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2028825"/>
            <a:ext cx="152396" cy="114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1962149"/>
            <a:ext cx="16001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Disbursement Trends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324141" y="2042432"/>
            <a:ext cx="152396" cy="870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14637" y="1962149"/>
            <a:ext cx="153348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Collection Efficiency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19129" y="2347232"/>
            <a:ext cx="152396" cy="1251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9624" y="2286000"/>
            <a:ext cx="95247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NPA Analysis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324141" y="2349953"/>
            <a:ext cx="152396" cy="11974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14637" y="2286000"/>
            <a:ext cx="16001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Product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4295774"/>
            <a:ext cx="5238619" cy="1295399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19129" y="4560570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23921" y="4486275"/>
            <a:ext cx="225736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Operational Reports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19129" y="4980051"/>
            <a:ext cx="133346" cy="1173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90575" y="4924424"/>
            <a:ext cx="8667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Loan Ledger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2485962" y="4985384"/>
            <a:ext cx="133346" cy="1066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657408" y="4924424"/>
            <a:ext cx="9905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Disbursement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4143271" y="4974716"/>
            <a:ext cx="133346" cy="12801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314717" y="4924424"/>
            <a:ext cx="8000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Repayment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19129" y="5265801"/>
            <a:ext cx="133346" cy="1173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90575" y="5210174"/>
            <a:ext cx="6000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Overdue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2485962" y="5284469"/>
            <a:ext cx="133346" cy="8001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657408" y="5210174"/>
            <a:ext cx="4000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Aging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4143271" y="5265801"/>
            <a:ext cx="133346" cy="1173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314717" y="5210174"/>
            <a:ext cx="2666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PAR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342" y="1000125"/>
            <a:ext cx="5238619" cy="2609850"/>
          </a:xfrm>
          <a:prstGeom prst="roundRect">
            <a:avLst>
              <a:gd name="adj" fmla="val 5839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438739" y="1253489"/>
            <a:ext cx="228594" cy="21717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43531" y="1190625"/>
            <a:ext cx="214307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Regulatory Reports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38739" y="1647825"/>
            <a:ext cx="4933826" cy="400050"/>
          </a:xfrm>
          <a:prstGeom prst="roundRect">
            <a:avLst>
              <a:gd name="adj" fmla="val 38095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514937" y="1782535"/>
            <a:ext cx="152396" cy="1306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24481" y="1724024"/>
            <a:ext cx="9143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CL-1 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29594" y="1733550"/>
            <a:ext cx="106677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Classified Loans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38739" y="2114550"/>
            <a:ext cx="4933826" cy="400050"/>
          </a:xfrm>
          <a:prstGeom prst="roundRect">
            <a:avLst>
              <a:gd name="adj" fmla="val 38095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514937" y="2249260"/>
            <a:ext cx="152396" cy="13062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24481" y="2190749"/>
            <a:ext cx="95247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CL-2 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20049" y="2209800"/>
            <a:ext cx="127631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Provisioning Details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38739" y="2590799"/>
            <a:ext cx="4933826" cy="400050"/>
          </a:xfrm>
          <a:prstGeom prst="roundRect">
            <a:avLst>
              <a:gd name="adj" fmla="val 38095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514937" y="2725510"/>
            <a:ext cx="152396" cy="13062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724481" y="2667000"/>
            <a:ext cx="95247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CL-3 Report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24821" y="2686050"/>
            <a:ext cx="11715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Recovery Position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38739" y="3067050"/>
            <a:ext cx="4933826" cy="400050"/>
          </a:xfrm>
          <a:prstGeom prst="roundRect">
            <a:avLst>
              <a:gd name="adj" fmla="val 38095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514937" y="3192235"/>
            <a:ext cx="152396" cy="13062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724481" y="3143250"/>
            <a:ext cx="98105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CL-4 &amp; CL-5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39059" y="3152775"/>
            <a:ext cx="165730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Write-off &amp; Restructured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86342" y="3724274"/>
            <a:ext cx="5238619" cy="12192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6438739" y="3968002"/>
            <a:ext cx="190495" cy="17929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86382" y="3914775"/>
            <a:ext cx="213354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Additional Compliance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6438739" y="4336351"/>
            <a:ext cx="133346" cy="10934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10184" y="4276725"/>
            <a:ext cx="10858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CIB Submission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8934226" y="4329683"/>
            <a:ext cx="133346" cy="12268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105672" y="4276725"/>
            <a:ext cx="1038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Basel III Report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6438739" y="4623434"/>
            <a:ext cx="133346" cy="10668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610184" y="4562475"/>
            <a:ext cx="8000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NPA Report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8934226" y="4623434"/>
            <a:ext cx="133346" cy="10668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105672" y="4562475"/>
            <a:ext cx="13620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Provisioning Report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86342" y="5057775"/>
            <a:ext cx="5238619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 Same Side Corner Rectangle 65"/>
          <p:cNvSpPr/>
          <p:nvPr/>
        </p:nvSpPr>
        <p:spPr>
          <a:xfrm rot="16200000">
            <a:off x="6085683" y="5258434"/>
            <a:ext cx="533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4">
            <a:alphaModFix amt="100000"/>
          </a:blip>
          <a:stretch>
            <a:fillRect/>
          </a:stretch>
        </p:blipFill>
        <p:spPr>
          <a:xfrm>
            <a:off x="6457788" y="5255838"/>
            <a:ext cx="190495" cy="13727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724481" y="5200650"/>
            <a:ext cx="152396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Real-Time Reports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25">
            <a:alphaModFix amt="100000"/>
          </a:blip>
          <a:stretch>
            <a:fillRect/>
          </a:stretch>
        </p:blipFill>
        <p:spPr>
          <a:xfrm>
            <a:off x="9772405" y="5243232"/>
            <a:ext cx="190495" cy="162485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039099" y="5200650"/>
            <a:ext cx="135251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100% Compliant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348606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Business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000125"/>
            <a:ext cx="5238619" cy="2057400"/>
          </a:xfrm>
          <a:prstGeom prst="roundRect">
            <a:avLst>
              <a:gd name="adj" fmla="val 7407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253489"/>
            <a:ext cx="228594" cy="2171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1190625"/>
            <a:ext cx="248596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9" y="1657350"/>
            <a:ext cx="21144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End-to-end digital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8103" y="1647825"/>
            <a:ext cx="90485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85% faster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29" y="1990724"/>
            <a:ext cx="231451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Digital document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380" y="1981199"/>
            <a:ext cx="99057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80% cost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2324100"/>
            <a:ext cx="197162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AI-powered credit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8103" y="2314575"/>
            <a:ext cx="90485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95% faster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29" y="2657475"/>
            <a:ext cx="169540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Automated collections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7628" y="2647949"/>
            <a:ext cx="89532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15% better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29100"/>
            <a:ext cx="5238619" cy="1638299"/>
          </a:xfrm>
          <a:prstGeom prst="roundRect">
            <a:avLst>
              <a:gd name="adj" fmla="val 9302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482465"/>
            <a:ext cx="228594" cy="21717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23921" y="4419600"/>
            <a:ext cx="260978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Regulatory Compliance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933950"/>
            <a:ext cx="152396" cy="114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8674" y="4876800"/>
            <a:ext cx="9810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BRPD 15/2024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324141" y="4931228"/>
            <a:ext cx="152396" cy="11974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33686" y="4876800"/>
            <a:ext cx="9620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CIB Reporting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9129" y="5226503"/>
            <a:ext cx="152396" cy="1387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8674" y="5181599"/>
            <a:ext cx="5238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Basel III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324141" y="5252357"/>
            <a:ext cx="152396" cy="870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33686" y="5181599"/>
            <a:ext cx="7905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IFRS-9 ECL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19129" y="5535385"/>
            <a:ext cx="152396" cy="1306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28674" y="5486400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AML/KYC Integration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6342" y="1000125"/>
            <a:ext cx="5238619" cy="4229100"/>
          </a:xfrm>
          <a:prstGeom prst="roundRect">
            <a:avLst>
              <a:gd name="adj" fmla="val 3603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38739" y="1280636"/>
            <a:ext cx="228594" cy="16287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43531" y="1190625"/>
            <a:ext cx="249548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Operational Efficiency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38739" y="1647825"/>
            <a:ext cx="4933826" cy="628650"/>
          </a:xfrm>
          <a:prstGeom prst="roundRect">
            <a:avLst>
              <a:gd name="adj" fmla="val 2424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14937" y="1896835"/>
            <a:ext cx="152396" cy="1306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43531" y="1838324"/>
            <a:ext cx="121916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Loan Processing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53376" y="1724024"/>
            <a:ext cx="134299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7-15 days → &lt;48 hrs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3376" y="1943100"/>
            <a:ext cx="134299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85% faster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38739" y="2343150"/>
            <a:ext cx="4933826" cy="628650"/>
          </a:xfrm>
          <a:prstGeom prst="roundRect">
            <a:avLst>
              <a:gd name="adj" fmla="val 2424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14937" y="2597603"/>
            <a:ext cx="152396" cy="11974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43531" y="2533649"/>
            <a:ext cx="123821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Credit Decisions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7653" y="2419349"/>
            <a:ext cx="14287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3-5 days → &lt;30 mins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67653" y="2638425"/>
            <a:ext cx="142871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95% faster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38739" y="3047999"/>
            <a:ext cx="4933826" cy="628650"/>
          </a:xfrm>
          <a:prstGeom prst="roundRect">
            <a:avLst>
              <a:gd name="adj" fmla="val 2424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514937" y="3310617"/>
            <a:ext cx="152396" cy="10341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43531" y="3238500"/>
            <a:ext cx="127631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Data Entry Errors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0089" y="3124200"/>
            <a:ext cx="87627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5-10% → &lt;1%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0089" y="3333749"/>
            <a:ext cx="87627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90% 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38739" y="3752849"/>
            <a:ext cx="4933826" cy="628650"/>
          </a:xfrm>
          <a:prstGeom prst="roundRect">
            <a:avLst>
              <a:gd name="adj" fmla="val 2424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514937" y="3988253"/>
            <a:ext cx="152396" cy="1387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43531" y="3943350"/>
            <a:ext cx="809604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CIB Inquiry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2880" y="3829050"/>
            <a:ext cx="153348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30-60 mins → &lt;2 mins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62880" y="4038599"/>
            <a:ext cx="153348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95% faster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38739" y="4448175"/>
            <a:ext cx="4933826" cy="628650"/>
          </a:xfrm>
          <a:prstGeom prst="roundRect">
            <a:avLst>
              <a:gd name="adj" fmla="val 2424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514937" y="4702628"/>
            <a:ext cx="152396" cy="11974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43531" y="4638674"/>
            <a:ext cx="138109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Report Generation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43851" y="4524374"/>
            <a:ext cx="135251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2-3 hrs → Real-time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3851" y="4743450"/>
            <a:ext cx="135251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95% faster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86342" y="5334000"/>
            <a:ext cx="5238619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 Same Side Corner Rectangle 57"/>
          <p:cNvSpPr/>
          <p:nvPr/>
        </p:nvSpPr>
        <p:spPr>
          <a:xfrm rot="16200000">
            <a:off x="6085683" y="5534659"/>
            <a:ext cx="533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457788" y="5520858"/>
            <a:ext cx="190495" cy="159683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724481" y="5476875"/>
            <a:ext cx="268598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Complete Digital Transformation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9496187" y="5547472"/>
            <a:ext cx="190495" cy="10645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762880" y="5476875"/>
            <a:ext cx="162873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40% Productivity ↑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736264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Scalability &amp; Future-Proof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962024"/>
            <a:ext cx="5276718" cy="2343150"/>
          </a:xfrm>
          <a:prstGeom prst="roundRect">
            <a:avLst>
              <a:gd name="adj" fmla="val 6504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1222057"/>
            <a:ext cx="228594" cy="165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4872" y="1133475"/>
            <a:ext cx="221926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Scalability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79" y="1571625"/>
            <a:ext cx="5010024" cy="41910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76278" y="1731399"/>
            <a:ext cx="171445" cy="995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3921" y="1657350"/>
            <a:ext cx="136204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Horizontal Scaling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79" y="2066924"/>
            <a:ext cx="5010024" cy="41910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76278" y="2207341"/>
            <a:ext cx="171445" cy="1382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21" y="2152650"/>
            <a:ext cx="131441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Database Scaling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079" y="2562224"/>
            <a:ext cx="1619209" cy="6096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278" y="2638425"/>
            <a:ext cx="14668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10K+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78" y="2905124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Daily 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95487" y="2562224"/>
            <a:ext cx="1619209" cy="6096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71685" y="2638425"/>
            <a:ext cx="14668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1K+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1685" y="2905124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Concurrent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0895" y="2562224"/>
            <a:ext cx="1619209" cy="6096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7093" y="2638425"/>
            <a:ext cx="14668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99.9%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7093" y="2905124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Uptime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3409950"/>
            <a:ext cx="5276718" cy="1381124"/>
          </a:xfrm>
          <a:prstGeom prst="roundRect">
            <a:avLst>
              <a:gd name="adj" fmla="val 11034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0079" y="3671411"/>
            <a:ext cx="228594" cy="16287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04872" y="3581400"/>
            <a:ext cx="289552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Performance Benchmarks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079" y="4019549"/>
            <a:ext cx="1619209" cy="638175"/>
          </a:xfrm>
          <a:prstGeom prst="roundRect">
            <a:avLst>
              <a:gd name="adj" fmla="val 2388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6278" y="4095749"/>
            <a:ext cx="146681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API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278" y="4352924"/>
            <a:ext cx="14668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&lt;500ms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95487" y="4019549"/>
            <a:ext cx="1619209" cy="638175"/>
          </a:xfrm>
          <a:prstGeom prst="roundRect">
            <a:avLst>
              <a:gd name="adj" fmla="val 2388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71685" y="4095749"/>
            <a:ext cx="146681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Page 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1685" y="4352924"/>
            <a:ext cx="14668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&lt;2s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90895" y="4019549"/>
            <a:ext cx="1619209" cy="638175"/>
          </a:xfrm>
          <a:prstGeom prst="roundRect">
            <a:avLst>
              <a:gd name="adj" fmla="val 2388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7093" y="4095749"/>
            <a:ext cx="146681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DB Queries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67093" y="4352924"/>
            <a:ext cx="14668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&lt;100ms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8243" y="962024"/>
            <a:ext cx="5276718" cy="2038349"/>
          </a:xfrm>
          <a:prstGeom prst="roundRect">
            <a:avLst>
              <a:gd name="adj" fmla="val 7476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81590" y="1202055"/>
            <a:ext cx="228594" cy="20573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86382" y="1133475"/>
            <a:ext cx="285742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Future-Proof Capabilities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1590" y="1571625"/>
            <a:ext cx="2466913" cy="380999"/>
          </a:xfrm>
          <a:prstGeom prst="roundRect">
            <a:avLst>
              <a:gd name="adj" fmla="val 4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57788" y="1698171"/>
            <a:ext cx="152396" cy="1279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67333" y="1647825"/>
            <a:ext cx="14953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Modular Architecture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24701" y="1571625"/>
            <a:ext cx="2466913" cy="380999"/>
          </a:xfrm>
          <a:prstGeom prst="roundRect">
            <a:avLst>
              <a:gd name="adj" fmla="val 4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000899" y="1696810"/>
            <a:ext cx="152396" cy="13062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210444" y="1647825"/>
            <a:ext cx="10953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Product Plugins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590" y="2028825"/>
            <a:ext cx="2466913" cy="380999"/>
          </a:xfrm>
          <a:prstGeom prst="roundRect">
            <a:avLst>
              <a:gd name="adj" fmla="val 4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57788" y="2144485"/>
            <a:ext cx="152396" cy="14967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667333" y="2105024"/>
            <a:ext cx="16287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Integration Connectors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24701" y="2028825"/>
            <a:ext cx="2466913" cy="380999"/>
          </a:xfrm>
          <a:prstGeom prst="roundRect">
            <a:avLst>
              <a:gd name="adj" fmla="val 4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000899" y="2159453"/>
            <a:ext cx="152396" cy="11974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210444" y="2105024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Workflow Extensions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81590" y="2486025"/>
            <a:ext cx="2466913" cy="380999"/>
          </a:xfrm>
          <a:prstGeom prst="roundRect">
            <a:avLst>
              <a:gd name="adj" fmla="val 4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57788" y="2611210"/>
            <a:ext cx="152396" cy="13062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667333" y="2562224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Report Templates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24701" y="2486025"/>
            <a:ext cx="2466913" cy="380999"/>
          </a:xfrm>
          <a:prstGeom prst="roundRect">
            <a:avLst>
              <a:gd name="adj" fmla="val 4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000899" y="2603046"/>
            <a:ext cx="152396" cy="14695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210444" y="2562224"/>
            <a:ext cx="10286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API Extensions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48243" y="3114675"/>
            <a:ext cx="5276718" cy="2495550"/>
          </a:xfrm>
          <a:prstGeom prst="roundRect">
            <a:avLst>
              <a:gd name="adj" fmla="val 6106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381590" y="3368992"/>
            <a:ext cx="228594" cy="17716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86382" y="3286125"/>
            <a:ext cx="20382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Capacity Planning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81590" y="3724274"/>
            <a:ext cx="5010024" cy="380999"/>
          </a:xfrm>
          <a:prstGeom prst="roundRect">
            <a:avLst>
              <a:gd name="adj" fmla="val 40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7788" y="3800475"/>
            <a:ext cx="3809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Small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91515" y="3809999"/>
            <a:ext cx="92390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1-10 branches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81590" y="4181474"/>
            <a:ext cx="5010024" cy="380999"/>
          </a:xfrm>
          <a:prstGeom prst="roundRect">
            <a:avLst>
              <a:gd name="adj" fmla="val 40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57788" y="4257675"/>
            <a:ext cx="5810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Medium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05792" y="4267199"/>
            <a:ext cx="100962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11-50 branches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81590" y="4638674"/>
            <a:ext cx="5010024" cy="380999"/>
          </a:xfrm>
          <a:prstGeom prst="roundRect">
            <a:avLst>
              <a:gd name="adj" fmla="val 40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57788" y="4714875"/>
            <a:ext cx="4000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Large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10544" y="4724399"/>
            <a:ext cx="11048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51-100 branches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81590" y="5095874"/>
            <a:ext cx="5010024" cy="380999"/>
          </a:xfrm>
          <a:prstGeom prst="roundRect">
            <a:avLst>
              <a:gd name="adj" fmla="val 40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57788" y="5172075"/>
            <a:ext cx="7619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Very Large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43891" y="5181599"/>
            <a:ext cx="97152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100+ branches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461950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Technology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000125"/>
            <a:ext cx="5238619" cy="3105149"/>
          </a:xfrm>
          <a:prstGeom prst="roundRect">
            <a:avLst>
              <a:gd name="adj" fmla="val 4907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267777"/>
            <a:ext cx="228594" cy="1885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1190625"/>
            <a:ext cx="306697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Microservices Architecture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1718582"/>
            <a:ext cx="152396" cy="870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674" y="1647825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Independent Scaling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324141" y="1688646"/>
            <a:ext cx="152396" cy="1469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33686" y="1647825"/>
            <a:ext cx="10572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High Resilience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2007053"/>
            <a:ext cx="152396" cy="1197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8674" y="1952624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Technology Diversity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324141" y="1997528"/>
            <a:ext cx="152396" cy="1387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33686" y="1952624"/>
            <a:ext cx="6572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Flexibility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29" y="2295525"/>
            <a:ext cx="4933826" cy="1657350"/>
          </a:xfrm>
          <a:prstGeom prst="roundRect">
            <a:avLst>
              <a:gd name="adj" fmla="val 919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5327" y="2430208"/>
            <a:ext cx="133346" cy="13068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6773" y="2371725"/>
            <a:ext cx="128584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10 Core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27" y="2647949"/>
            <a:ext cx="237166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• 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05092" y="2647949"/>
            <a:ext cx="237166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• Loan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27" y="2905124"/>
            <a:ext cx="237166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• Credit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5092" y="2905124"/>
            <a:ext cx="237166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• Collection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27" y="3162299"/>
            <a:ext cx="237166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• Document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5092" y="3162299"/>
            <a:ext cx="237166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•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27" y="3409950"/>
            <a:ext cx="237166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• Accounting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5092" y="3409950"/>
            <a:ext cx="237166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•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327" y="3657600"/>
            <a:ext cx="237166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•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05092" y="3657600"/>
            <a:ext cx="237166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• Notification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733" y="4219575"/>
            <a:ext cx="5238619" cy="2333624"/>
          </a:xfrm>
          <a:prstGeom prst="roundRect">
            <a:avLst>
              <a:gd name="adj" fmla="val 6530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19129" y="4472940"/>
            <a:ext cx="228594" cy="21717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23921" y="4410074"/>
            <a:ext cx="180970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API-First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129" y="4905375"/>
            <a:ext cx="72388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Total 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718" y="4867274"/>
            <a:ext cx="47623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150+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9129" y="5257800"/>
            <a:ext cx="1609684" cy="542925"/>
          </a:xfrm>
          <a:prstGeom prst="roundRect">
            <a:avLst>
              <a:gd name="adj" fmla="val 1403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6278" y="5314950"/>
            <a:ext cx="14953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25+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278" y="5524499"/>
            <a:ext cx="14953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Customer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85962" y="5257800"/>
            <a:ext cx="1609684" cy="542925"/>
          </a:xfrm>
          <a:prstGeom prst="roundRect">
            <a:avLst>
              <a:gd name="adj" fmla="val 1403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3111" y="5314950"/>
            <a:ext cx="14953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40+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3111" y="5524499"/>
            <a:ext cx="14953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Loan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43271" y="5257800"/>
            <a:ext cx="1609684" cy="542925"/>
          </a:xfrm>
          <a:prstGeom prst="roundRect">
            <a:avLst>
              <a:gd name="adj" fmla="val 1403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0419" y="5314950"/>
            <a:ext cx="14953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20+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0419" y="5524499"/>
            <a:ext cx="14953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Credit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9129" y="5857875"/>
            <a:ext cx="1609684" cy="542925"/>
          </a:xfrm>
          <a:prstGeom prst="roundRect">
            <a:avLst>
              <a:gd name="adj" fmla="val 1403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6278" y="5915025"/>
            <a:ext cx="14953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15+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6278" y="6134100"/>
            <a:ext cx="14953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Collection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85962" y="5857875"/>
            <a:ext cx="1609684" cy="542925"/>
          </a:xfrm>
          <a:prstGeom prst="roundRect">
            <a:avLst>
              <a:gd name="adj" fmla="val 1403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43111" y="5915025"/>
            <a:ext cx="14953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30+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43111" y="6134100"/>
            <a:ext cx="14953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Reporting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43271" y="5857875"/>
            <a:ext cx="1609684" cy="542925"/>
          </a:xfrm>
          <a:prstGeom prst="roundRect">
            <a:avLst>
              <a:gd name="adj" fmla="val 1403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00419" y="5915025"/>
            <a:ext cx="14953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20+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0419" y="6134100"/>
            <a:ext cx="14953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Admin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86342" y="1000125"/>
            <a:ext cx="5238619" cy="200025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38739" y="1253489"/>
            <a:ext cx="228594" cy="21717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43531" y="1190625"/>
            <a:ext cx="298125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Event-Driven Architecture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38739" y="1706335"/>
            <a:ext cx="152396" cy="13062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48283" y="1647825"/>
            <a:ext cx="174303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Real-Time Notifications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38739" y="2026103"/>
            <a:ext cx="152396" cy="11974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48283" y="1962149"/>
            <a:ext cx="149538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Decoupled Systems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38739" y="2352675"/>
            <a:ext cx="152396" cy="1143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48283" y="2286000"/>
            <a:ext cx="151443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Improved Scalability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438739" y="2664278"/>
            <a:ext cx="152396" cy="11974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648283" y="2609850"/>
            <a:ext cx="75245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Audit Trail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86342" y="3333749"/>
            <a:ext cx="5238619" cy="2352675"/>
          </a:xfrm>
          <a:prstGeom prst="roundRect">
            <a:avLst>
              <a:gd name="adj" fmla="val 6477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438739" y="3614261"/>
            <a:ext cx="228594" cy="16287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743531" y="3524250"/>
            <a:ext cx="291457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Scalability &amp; Performance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38739" y="3981449"/>
            <a:ext cx="4933826" cy="466724"/>
          </a:xfrm>
          <a:prstGeom prst="roundRect">
            <a:avLst>
              <a:gd name="adj" fmla="val 32653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514937" y="4161064"/>
            <a:ext cx="152396" cy="97971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724481" y="4095749"/>
            <a:ext cx="134299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Daily Applications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67713" y="4057650"/>
            <a:ext cx="82865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DD835"/>
                </a:solidFill>
                <a:latin typeface="DM Sans"/>
                <a:rFonts ascii="DM Sans" hAnsi="DM Sans" eastAsia="DM Sans" cs="DM Sans"/>
              </a:rPr>
              <a:t>10,000+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38739" y="4524374"/>
            <a:ext cx="4933826" cy="466724"/>
          </a:xfrm>
          <a:prstGeom prst="roundRect">
            <a:avLst>
              <a:gd name="adj" fmla="val 32653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514937" y="4693103"/>
            <a:ext cx="152396" cy="13879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24481" y="4638674"/>
            <a:ext cx="141918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API Response Time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39139" y="4600575"/>
            <a:ext cx="85722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DD835"/>
                </a:solidFill>
                <a:latin typeface="DM Sans"/>
                <a:rFonts ascii="DM Sans" hAnsi="DM Sans" eastAsia="DM Sans" cs="DM Sans"/>
              </a:rPr>
              <a:t>&lt;500ms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38739" y="5067299"/>
            <a:ext cx="4933826" cy="466724"/>
          </a:xfrm>
          <a:prstGeom prst="roundRect">
            <a:avLst>
              <a:gd name="adj" fmla="val 32653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514937" y="5238749"/>
            <a:ext cx="152396" cy="1143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724481" y="5181599"/>
            <a:ext cx="114297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System Uptime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67733" y="5143500"/>
            <a:ext cx="62863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DD835"/>
                </a:solidFill>
                <a:latin typeface="DM Sans"/>
                <a:rFonts ascii="DM Sans" hAnsi="DM Sans" eastAsia="DM Sans" cs="DM Sans"/>
              </a:rPr>
              <a:t>99.9%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86342" y="6019800"/>
            <a:ext cx="5238619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 Same Side Corner Rectangle 78"/>
          <p:cNvSpPr/>
          <p:nvPr/>
        </p:nvSpPr>
        <p:spPr>
          <a:xfrm rot="16200000">
            <a:off x="6085683" y="6220459"/>
            <a:ext cx="533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6457788" y="6205257"/>
            <a:ext cx="190495" cy="162485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724481" y="6153149"/>
            <a:ext cx="217164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Future-Proof Architecture</a:t>
            </a:r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9391415" y="6233272"/>
            <a:ext cx="190495" cy="106455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9658108" y="6153149"/>
            <a:ext cx="173350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Horizontally Scalable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329556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962024"/>
            <a:ext cx="5276718" cy="1181099"/>
          </a:xfrm>
          <a:prstGeom prst="roundRect">
            <a:avLst>
              <a:gd name="adj" fmla="val 12903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1225363"/>
            <a:ext cx="190495" cy="140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773" y="1133475"/>
            <a:ext cx="94295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Frontend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1570101"/>
            <a:ext cx="133346" cy="1173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1525" y="1523999"/>
            <a:ext cx="7619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React.js 18+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485962" y="1570101"/>
            <a:ext cx="133346" cy="1173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57408" y="1523999"/>
            <a:ext cx="87627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Redux Toolkit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181370" y="1570101"/>
            <a:ext cx="133346" cy="1173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52816" y="1523999"/>
            <a:ext cx="73340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Material-UI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1846326"/>
            <a:ext cx="133346" cy="1173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1525" y="1790700"/>
            <a:ext cx="112392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React Form Hook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485962" y="1846326"/>
            <a:ext cx="133346" cy="1173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657408" y="1790700"/>
            <a:ext cx="58101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Recharts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181370" y="1846326"/>
            <a:ext cx="133346" cy="1173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52816" y="1790700"/>
            <a:ext cx="82865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React Native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2238375"/>
            <a:ext cx="5276718" cy="1457325"/>
          </a:xfrm>
          <a:prstGeom prst="roundRect">
            <a:avLst>
              <a:gd name="adj" fmla="val 10457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0079" y="2496110"/>
            <a:ext cx="190495" cy="1512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6773" y="2409825"/>
            <a:ext cx="88580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Backend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0079" y="2846450"/>
            <a:ext cx="133346" cy="1173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1525" y="2800350"/>
            <a:ext cx="132394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Java Spring Boot 3.x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333666" y="2846450"/>
            <a:ext cx="133346" cy="1173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05112" y="2800350"/>
            <a:ext cx="71435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Java 17 LTS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0079" y="3122675"/>
            <a:ext cx="133346" cy="1173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1525" y="3067050"/>
            <a:ext cx="122869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Spring Security 6.x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333666" y="3122675"/>
            <a:ext cx="133346" cy="1173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05112" y="3067050"/>
            <a:ext cx="115249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Quartz Scheduler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0079" y="3389375"/>
            <a:ext cx="133346" cy="1173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71525" y="3343275"/>
            <a:ext cx="100962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RabbitMQ 3.12+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333666" y="3389375"/>
            <a:ext cx="133346" cy="1173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505112" y="3343275"/>
            <a:ext cx="129536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SpringDoc OpenAPI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33" y="3790949"/>
            <a:ext cx="5276718" cy="1181099"/>
          </a:xfrm>
          <a:prstGeom prst="roundRect">
            <a:avLst>
              <a:gd name="adj" fmla="val 12903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0079" y="4044763"/>
            <a:ext cx="190495" cy="14007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66773" y="3962399"/>
            <a:ext cx="98105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Database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0079" y="4399026"/>
            <a:ext cx="133346" cy="11734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71525" y="4343400"/>
            <a:ext cx="101914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PostgreSQL 15+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333666" y="4399026"/>
            <a:ext cx="133346" cy="1173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505112" y="4343400"/>
            <a:ext cx="9143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Read Replicas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0079" y="4665725"/>
            <a:ext cx="133346" cy="11734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71525" y="4619625"/>
            <a:ext cx="11048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Redis 7+ (Cache)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333666" y="4665725"/>
            <a:ext cx="133346" cy="11734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505112" y="4619625"/>
            <a:ext cx="107629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Elasticsearch 8+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8243" y="962024"/>
            <a:ext cx="5276718" cy="1181099"/>
          </a:xfrm>
          <a:prstGeom prst="roundRect">
            <a:avLst>
              <a:gd name="adj" fmla="val 12903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81590" y="1225363"/>
            <a:ext cx="190495" cy="14007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48283" y="1133475"/>
            <a:ext cx="250501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DevOps &amp; Infrastructure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381590" y="1570101"/>
            <a:ext cx="133346" cy="11734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553036" y="1523999"/>
            <a:ext cx="46671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Docker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067473" y="1570101"/>
            <a:ext cx="133346" cy="11734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238919" y="1523999"/>
            <a:ext cx="75245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Kubernetes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762880" y="1570101"/>
            <a:ext cx="133346" cy="11734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934326" y="1523999"/>
            <a:ext cx="116202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GitLab CI/Jenkins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381590" y="1846326"/>
            <a:ext cx="133346" cy="11734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553036" y="1790700"/>
            <a:ext cx="6381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Terraform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067473" y="1846326"/>
            <a:ext cx="133346" cy="11734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238919" y="1790700"/>
            <a:ext cx="80007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Prometheus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762880" y="1846326"/>
            <a:ext cx="133346" cy="11734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934326" y="1790700"/>
            <a:ext cx="64768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ELK Stack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48243" y="2695575"/>
            <a:ext cx="5276718" cy="1181099"/>
          </a:xfrm>
          <a:prstGeom prst="roundRect">
            <a:avLst>
              <a:gd name="adj" fmla="val 12903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381590" y="2939302"/>
            <a:ext cx="190495" cy="17929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648283" y="2867025"/>
            <a:ext cx="86675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Security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381590" y="3313175"/>
            <a:ext cx="133346" cy="11734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553036" y="3257550"/>
            <a:ext cx="99057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OAuth 2.0/JWT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915177" y="3313175"/>
            <a:ext cx="133346" cy="11734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086622" y="3257550"/>
            <a:ext cx="135251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AES-256 Encryption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381590" y="3579875"/>
            <a:ext cx="133346" cy="11734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553036" y="3533774"/>
            <a:ext cx="4286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TLS 1.3</a:t>
            </a:r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915177" y="3579875"/>
            <a:ext cx="133346" cy="11734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9086622" y="3533774"/>
            <a:ext cx="118107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ModSecurity WAF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48243" y="4438649"/>
            <a:ext cx="5276718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 Same Side Corner Rectangle 72"/>
          <p:cNvSpPr/>
          <p:nvPr/>
        </p:nvSpPr>
        <p:spPr>
          <a:xfrm rot="16200000">
            <a:off x="6047584" y="4639308"/>
            <a:ext cx="533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19689" y="4618504"/>
            <a:ext cx="190495" cy="17369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686382" y="4572000"/>
            <a:ext cx="244786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Enterprise-Grade Technology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0048623" y="4629710"/>
            <a:ext cx="190495" cy="151279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315317" y="4572000"/>
            <a:ext cx="107629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Future-Proof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425756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Pain Points &amp;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962024"/>
            <a:ext cx="5276718" cy="2752725"/>
          </a:xfrm>
          <a:prstGeom prst="roundRect">
            <a:avLst>
              <a:gd name="adj" fmla="val 5536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1216958"/>
            <a:ext cx="190495" cy="1568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773" y="1133475"/>
            <a:ext cx="239071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Operational Pain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79" y="1523999"/>
            <a:ext cx="5010024" cy="514350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1722501"/>
            <a:ext cx="133346" cy="1173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7723" y="1666874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Slow Loan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0044" y="1581149"/>
            <a:ext cx="5429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7-15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0044" y="1771650"/>
            <a:ext cx="54291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&lt;48 hrs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079" y="2095499"/>
            <a:ext cx="5010024" cy="514350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2299335"/>
            <a:ext cx="133346" cy="106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7723" y="2238375"/>
            <a:ext cx="188590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Manual Credit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4797" y="2152650"/>
            <a:ext cx="638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3-5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4797" y="2343150"/>
            <a:ext cx="6381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&lt;30 mins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079" y="2667000"/>
            <a:ext cx="5010024" cy="514350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7228" y="2865500"/>
            <a:ext cx="133346" cy="1173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7723" y="2809875"/>
            <a:ext cx="11239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High Error Rates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1015" y="2724150"/>
            <a:ext cx="3619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5-10%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1015" y="2914650"/>
            <a:ext cx="36194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&lt;1%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079" y="3238500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3348609"/>
            <a:ext cx="133346" cy="12268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47723" y="3295650"/>
            <a:ext cx="21906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Document Management Chaos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505212" y="3359277"/>
            <a:ext cx="133346" cy="10134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76658" y="3305174"/>
            <a:ext cx="107629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Encrypted DMS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3809999"/>
            <a:ext cx="5276718" cy="2009774"/>
          </a:xfrm>
          <a:prstGeom prst="roundRect">
            <a:avLst>
              <a:gd name="adj" fmla="val 7582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00079" y="4063813"/>
            <a:ext cx="190495" cy="14007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66773" y="3981449"/>
            <a:ext cx="234309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Technology Pain Points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079" y="4371975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57228" y="4490085"/>
            <a:ext cx="133346" cy="1066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47723" y="4429125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Limited Integration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962400" y="4492752"/>
            <a:ext cx="133346" cy="10134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133846" y="4438649"/>
            <a:ext cx="6191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API-First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079" y="4772025"/>
            <a:ext cx="5010024" cy="514350"/>
          </a:xfrm>
          <a:prstGeom prst="roundRect">
            <a:avLst>
              <a:gd name="adj" fmla="val 14814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57228" y="4975860"/>
            <a:ext cx="133346" cy="1066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47723" y="4914900"/>
            <a:ext cx="12286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Manual 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57648" y="4829175"/>
            <a:ext cx="6953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2-3 hours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7648" y="5010149"/>
            <a:ext cx="69530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Real-time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079" y="5343525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5456301"/>
            <a:ext cx="133346" cy="11734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47723" y="5400675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No Real-Time Data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48083" y="5464301"/>
            <a:ext cx="133346" cy="10134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819529" y="5410199"/>
            <a:ext cx="93342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Event-Driven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8243" y="962024"/>
            <a:ext cx="5276718" cy="2238375"/>
          </a:xfrm>
          <a:prstGeom prst="roundRect">
            <a:avLst>
              <a:gd name="adj" fmla="val 6808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381590" y="1205752"/>
            <a:ext cx="190495" cy="17929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48283" y="1133475"/>
            <a:ext cx="240976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Compliance Pain Points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1590" y="1523999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38739" y="1644777"/>
            <a:ext cx="133346" cy="10134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629234" y="1581149"/>
            <a:ext cx="14858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Manual Classification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324841" y="1644777"/>
            <a:ext cx="133346" cy="10134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496287" y="1590675"/>
            <a:ext cx="83817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Auto Engine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81590" y="1924049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438739" y="2042160"/>
            <a:ext cx="133346" cy="10668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29234" y="1981199"/>
            <a:ext cx="13048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Provisioning Errors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429614" y="2044827"/>
            <a:ext cx="133346" cy="10134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601059" y="1990724"/>
            <a:ext cx="73340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Auto-Calc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81590" y="2324100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438739" y="2444877"/>
            <a:ext cx="133346" cy="10134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629234" y="2381250"/>
            <a:ext cx="14668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CIB Reporting Delays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496287" y="2444877"/>
            <a:ext cx="133346" cy="10134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667733" y="2390774"/>
            <a:ext cx="66673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Batch API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81590" y="2724150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438739" y="2836925"/>
            <a:ext cx="133346" cy="11734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629234" y="2781300"/>
            <a:ext cx="18097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Regulatory Report Burden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439139" y="2844927"/>
            <a:ext cx="133346" cy="10134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610584" y="2790824"/>
            <a:ext cx="7238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One-Click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48243" y="3295650"/>
            <a:ext cx="5276718" cy="1314450"/>
          </a:xfrm>
          <a:prstGeom prst="roundRect">
            <a:avLst>
              <a:gd name="adj" fmla="val 11594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381590" y="3532654"/>
            <a:ext cx="190495" cy="173691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648283" y="3467100"/>
            <a:ext cx="262883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Comprehensive Solutions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81590" y="3857625"/>
            <a:ext cx="161920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85%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81590" y="4257675"/>
            <a:ext cx="16192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Faster Processing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76998" y="3857625"/>
            <a:ext cx="161920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95%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76998" y="4257675"/>
            <a:ext cx="16192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Faster Decisions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72405" y="3857625"/>
            <a:ext cx="161920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90%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72405" y="4257675"/>
            <a:ext cx="16192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Error Reduction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38384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Operational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000125"/>
            <a:ext cx="5276718" cy="3238500"/>
          </a:xfrm>
          <a:prstGeom prst="roundRect">
            <a:avLst>
              <a:gd name="adj" fmla="val 4705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280636"/>
            <a:ext cx="228594" cy="1628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1190625"/>
            <a:ext cx="131441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Key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9129" y="1647825"/>
            <a:ext cx="4971925" cy="552450"/>
          </a:xfrm>
          <a:prstGeom prst="roundRect">
            <a:avLst>
              <a:gd name="adj" fmla="val 2758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1849386"/>
            <a:ext cx="171445" cy="1493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2971" y="1790700"/>
            <a:ext cx="12858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Loan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3311" y="1724024"/>
            <a:ext cx="11715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85% 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3311" y="1943100"/>
            <a:ext cx="11715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7-15 days → &lt;48 hrs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129" y="2276474"/>
            <a:ext cx="4971925" cy="552450"/>
          </a:xfrm>
          <a:prstGeom prst="roundRect">
            <a:avLst>
              <a:gd name="adj" fmla="val 2758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2483566"/>
            <a:ext cx="171445" cy="1382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2971" y="2419349"/>
            <a:ext cx="131441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Credit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638" y="2352675"/>
            <a:ext cx="12382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95% Faster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6638" y="2571750"/>
            <a:ext cx="12382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3-5 days → &lt;30 mins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129" y="2905124"/>
            <a:ext cx="4971925" cy="552450"/>
          </a:xfrm>
          <a:prstGeom prst="roundRect">
            <a:avLst>
              <a:gd name="adj" fmla="val 2758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3106686"/>
            <a:ext cx="171445" cy="14932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42971" y="3047999"/>
            <a:ext cx="135251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Data Entry Errors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2400" y="2981325"/>
            <a:ext cx="75245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90% 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2400" y="3200400"/>
            <a:ext cx="7524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5-10% → &lt;1%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129" y="3533774"/>
            <a:ext cx="4971925" cy="552450"/>
          </a:xfrm>
          <a:prstGeom prst="roundRect">
            <a:avLst>
              <a:gd name="adj" fmla="val 2758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3732570"/>
            <a:ext cx="171445" cy="1548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42971" y="3676649"/>
            <a:ext cx="85722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CIB Inquiry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1390" y="3609975"/>
            <a:ext cx="13334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95% Faster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1390" y="3829050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30-60 mins → &lt;2 mins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4352924"/>
            <a:ext cx="5276718" cy="847724"/>
          </a:xfrm>
          <a:prstGeom prst="roundRect">
            <a:avLst>
              <a:gd name="adj" fmla="val 17977"/>
            </a:avLst>
          </a:prstGeom>
          <a:gradFill rotWithShape="1">
            <a:gsLst>
              <a:gs pos="0">
                <a:srgbClr val="F0FDF4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308911" y="4710746"/>
            <a:ext cx="8477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7228" y="4718685"/>
            <a:ext cx="228594" cy="12572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62020" y="4505325"/>
            <a:ext cx="322889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40% Productivity Improvement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2020" y="4819650"/>
            <a:ext cx="32288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Enhanced Staff Efficiency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8243" y="1000125"/>
            <a:ext cx="5276718" cy="4200525"/>
          </a:xfrm>
          <a:prstGeom prst="roundRect">
            <a:avLst>
              <a:gd name="adj" fmla="val 3628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00639" y="1253489"/>
            <a:ext cx="228594" cy="21717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05432" y="1190625"/>
            <a:ext cx="31241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Process Automation Impact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639" y="1647825"/>
            <a:ext cx="2438339" cy="866775"/>
          </a:xfrm>
          <a:prstGeom prst="roundRect">
            <a:avLst>
              <a:gd name="adj" fmla="val 1758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95887" y="1807291"/>
            <a:ext cx="171445" cy="13826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724481" y="1752599"/>
            <a:ext cx="141918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Application Intake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5887" y="2047874"/>
            <a:ext cx="224784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60% Faster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34226" y="1647825"/>
            <a:ext cx="2438339" cy="866775"/>
          </a:xfrm>
          <a:prstGeom prst="roundRect">
            <a:avLst>
              <a:gd name="adj" fmla="val 1758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029474" y="1807291"/>
            <a:ext cx="171445" cy="13826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258068" y="1752599"/>
            <a:ext cx="107629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Credit Inquiry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29474" y="2047874"/>
            <a:ext cx="224784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95% Faster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639" y="2609850"/>
            <a:ext cx="2438339" cy="866775"/>
          </a:xfrm>
          <a:prstGeom prst="roundRect">
            <a:avLst>
              <a:gd name="adj" fmla="val 1758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95887" y="2769316"/>
            <a:ext cx="171445" cy="13826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724481" y="2714625"/>
            <a:ext cx="112392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Credit Scoring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5887" y="3009900"/>
            <a:ext cx="224784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Instant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34226" y="2609850"/>
            <a:ext cx="2438339" cy="866775"/>
          </a:xfrm>
          <a:prstGeom prst="roundRect">
            <a:avLst>
              <a:gd name="adj" fmla="val 1758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029474" y="2763786"/>
            <a:ext cx="171445" cy="14932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258068" y="2714625"/>
            <a:ext cx="146681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Approval Workflow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29474" y="3009900"/>
            <a:ext cx="224784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70% Faster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639" y="3571875"/>
            <a:ext cx="2438339" cy="866775"/>
          </a:xfrm>
          <a:prstGeom prst="roundRect">
            <a:avLst>
              <a:gd name="adj" fmla="val 1758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495887" y="3736872"/>
            <a:ext cx="171445" cy="12720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24481" y="3676649"/>
            <a:ext cx="110487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Disbursement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5887" y="3971925"/>
            <a:ext cx="224784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Same-Day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34226" y="3571875"/>
            <a:ext cx="2438339" cy="866775"/>
          </a:xfrm>
          <a:prstGeom prst="roundRect">
            <a:avLst>
              <a:gd name="adj" fmla="val 1758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9029474" y="3741020"/>
            <a:ext cx="171445" cy="11890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258068" y="3676649"/>
            <a:ext cx="80007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Collection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29474" y="3971925"/>
            <a:ext cx="224784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15% Better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622919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Bangladesh-Specific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962024"/>
            <a:ext cx="4190895" cy="3686175"/>
          </a:xfrm>
          <a:prstGeom prst="roundRect">
            <a:avLst>
              <a:gd name="adj" fmla="val 4134"/>
            </a:avLst>
          </a:prstGeom>
          <a:gradFill rotWithShape="1">
            <a:gsLst>
              <a:gs pos="0">
                <a:srgbClr val="3B82F6"/>
              </a:gs>
              <a:gs pos="100000">
                <a:srgbClr val="A855F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161272"/>
            <a:ext cx="285742" cy="2682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1070" y="1114425"/>
            <a:ext cx="272408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Regulatory Framework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16713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1600200"/>
            <a:ext cx="284790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Digital Banking Roadmap 2025-2027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1847849"/>
            <a:ext cx="284790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75% cashless transactions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2223807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5822" y="2152650"/>
            <a:ext cx="175255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IFRS-9 ECL Mandatory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22" y="2400300"/>
            <a:ext cx="175255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By December 2027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2776257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5822" y="2705099"/>
            <a:ext cx="169540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Digital Bank Licensing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22" y="2952750"/>
            <a:ext cx="169540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BDT 300 crore capital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328707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5822" y="3257550"/>
            <a:ext cx="190495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Instant Payment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22" y="3505199"/>
            <a:ext cx="190495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By July 2027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2420" y="962024"/>
            <a:ext cx="3124121" cy="1390650"/>
          </a:xfrm>
          <a:prstGeom prst="roundRect">
            <a:avLst>
              <a:gd name="adj" fmla="val 10958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276718" y="1174656"/>
            <a:ext cx="190495" cy="16528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524361" y="1114425"/>
            <a:ext cx="127631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BRPD 15/2024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276718" y="1537144"/>
            <a:ext cx="133346" cy="880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67213" y="1476375"/>
            <a:ext cx="159063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Auto Loan Classification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276718" y="1813369"/>
            <a:ext cx="133346" cy="8801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67213" y="1752599"/>
            <a:ext cx="157158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Provisioning Calculation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276718" y="2080069"/>
            <a:ext cx="133346" cy="8801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67213" y="2019299"/>
            <a:ext cx="94295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NPA Reporting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00839" y="962024"/>
            <a:ext cx="3124121" cy="1390650"/>
          </a:xfrm>
          <a:prstGeom prst="roundRect">
            <a:avLst>
              <a:gd name="adj" fmla="val 10958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15137" y="1181660"/>
            <a:ext cx="190495" cy="15127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762780" y="1114425"/>
            <a:ext cx="127631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CIB Reporting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15137" y="1537144"/>
            <a:ext cx="133346" cy="8801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705632" y="1476375"/>
            <a:ext cx="9143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Online Inquiry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15137" y="1813369"/>
            <a:ext cx="133346" cy="8801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705632" y="1752599"/>
            <a:ext cx="14382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Batch File Submission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15137" y="2080069"/>
            <a:ext cx="133346" cy="8801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05632" y="2019299"/>
            <a:ext cx="13334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Score Interpretation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62420" y="2457450"/>
            <a:ext cx="3124121" cy="1114425"/>
          </a:xfrm>
          <a:prstGeom prst="roundRect">
            <a:avLst>
              <a:gd name="adj" fmla="val 13675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276718" y="2676805"/>
            <a:ext cx="190495" cy="17088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524361" y="2609850"/>
            <a:ext cx="70483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Basel III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276718" y="3042094"/>
            <a:ext cx="133346" cy="8801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467213" y="2971800"/>
            <a:ext cx="108582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RWA Calculation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276718" y="3308794"/>
            <a:ext cx="133346" cy="88011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467213" y="3248024"/>
            <a:ext cx="185732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Capital Adequacy Reporting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00839" y="2457450"/>
            <a:ext cx="3124121" cy="1114425"/>
          </a:xfrm>
          <a:prstGeom prst="roundRect">
            <a:avLst>
              <a:gd name="adj" fmla="val 13675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515137" y="2709022"/>
            <a:ext cx="190495" cy="10645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762780" y="2609850"/>
            <a:ext cx="61910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IFRS-9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515137" y="3042094"/>
            <a:ext cx="133346" cy="88011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705632" y="2971800"/>
            <a:ext cx="151443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ECL Calculation Engine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515137" y="3308794"/>
            <a:ext cx="133346" cy="8801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705632" y="3248024"/>
            <a:ext cx="140966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Forward-Looking Info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62420" y="3695699"/>
            <a:ext cx="6362540" cy="962024"/>
          </a:xfrm>
          <a:prstGeom prst="roundRect">
            <a:avLst>
              <a:gd name="adj" fmla="val 15841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276718" y="3891802"/>
            <a:ext cx="190495" cy="17929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524361" y="3848099"/>
            <a:ext cx="195257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AML/KYC Integration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76718" y="4210049"/>
            <a:ext cx="1476338" cy="333375"/>
          </a:xfrm>
          <a:prstGeom prst="roundRect">
            <a:avLst>
              <a:gd name="adj" fmla="val 4571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333866" y="4313301"/>
            <a:ext cx="133346" cy="11734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524361" y="4267199"/>
            <a:ext cx="4286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e-KYC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29254" y="4210049"/>
            <a:ext cx="1476338" cy="333375"/>
          </a:xfrm>
          <a:prstGeom prst="roundRect">
            <a:avLst>
              <a:gd name="adj" fmla="val 4571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886402" y="4313301"/>
            <a:ext cx="133346" cy="11734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076898" y="4267199"/>
            <a:ext cx="4571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NID DB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81790" y="4210049"/>
            <a:ext cx="1476338" cy="333375"/>
          </a:xfrm>
          <a:prstGeom prst="roundRect">
            <a:avLst>
              <a:gd name="adj" fmla="val 4571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438939" y="4310634"/>
            <a:ext cx="133346" cy="122681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629434" y="4267199"/>
            <a:ext cx="64768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Biometric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34326" y="4210049"/>
            <a:ext cx="1476338" cy="333375"/>
          </a:xfrm>
          <a:prstGeom prst="roundRect">
            <a:avLst>
              <a:gd name="adj" fmla="val 4571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9991475" y="4307967"/>
            <a:ext cx="133346" cy="12801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181970" y="4267199"/>
            <a:ext cx="29526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AML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329556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Financial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962024"/>
            <a:ext cx="5276718" cy="2895600"/>
          </a:xfrm>
          <a:prstGeom prst="roundRect">
            <a:avLst>
              <a:gd name="adj" fmla="val 5263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231106"/>
            <a:ext cx="228594" cy="1857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1152524"/>
            <a:ext cx="271455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Cost Reduction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9129" y="1609724"/>
            <a:ext cx="4971925" cy="466724"/>
          </a:xfrm>
          <a:prstGeom prst="roundRect">
            <a:avLst>
              <a:gd name="adj" fmla="val 3265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1792543"/>
            <a:ext cx="171445" cy="1106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2971" y="1724024"/>
            <a:ext cx="828654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Staff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8123" y="1685925"/>
            <a:ext cx="66673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3-5 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2152650"/>
            <a:ext cx="4971925" cy="466724"/>
          </a:xfrm>
          <a:prstGeom prst="roundRect">
            <a:avLst>
              <a:gd name="adj" fmla="val 3265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2306586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2971" y="2266950"/>
            <a:ext cx="155253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Stationery &amp; Printing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212" y="2228850"/>
            <a:ext cx="120964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20-40 Lakh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29" y="2695575"/>
            <a:ext cx="4971925" cy="466724"/>
          </a:xfrm>
          <a:prstGeom prst="roundRect">
            <a:avLst>
              <a:gd name="adj" fmla="val 3265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2870097"/>
            <a:ext cx="171445" cy="1272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2971" y="2809875"/>
            <a:ext cx="178113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Documentation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509" y="2771775"/>
            <a:ext cx="109534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10-15 Lakh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129" y="3238500"/>
            <a:ext cx="4971925" cy="466724"/>
          </a:xfrm>
          <a:prstGeom prst="roundRect">
            <a:avLst>
              <a:gd name="adj" fmla="val 3265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3397966"/>
            <a:ext cx="171445" cy="1382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42971" y="3352800"/>
            <a:ext cx="155253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Reporting Manpower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0459" y="3314700"/>
            <a:ext cx="111439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15-25 Lakh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3971925"/>
            <a:ext cx="5276718" cy="809625"/>
          </a:xfrm>
          <a:prstGeom prst="roundRect">
            <a:avLst>
              <a:gd name="adj" fmla="val 18823"/>
            </a:avLst>
          </a:prstGeom>
          <a:gradFill rotWithShape="1">
            <a:gsLst>
              <a:gs pos="0">
                <a:srgbClr val="F0FDF4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27961" y="4310697"/>
            <a:ext cx="809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7228" y="4293247"/>
            <a:ext cx="285742" cy="15745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19169" y="4124324"/>
            <a:ext cx="140966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Annual Savings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169" y="4410074"/>
            <a:ext cx="140966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Total Cost Reduction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2776" y="4200525"/>
            <a:ext cx="183827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BDT 5-8 Cr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8243" y="962024"/>
            <a:ext cx="5276718" cy="2771775"/>
          </a:xfrm>
          <a:prstGeom prst="roundRect">
            <a:avLst>
              <a:gd name="adj" fmla="val 5498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00639" y="1235392"/>
            <a:ext cx="228594" cy="1771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05432" y="1152524"/>
            <a:ext cx="279075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80-90% Cost Advantage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639" y="1609724"/>
            <a:ext cx="4971925" cy="552450"/>
          </a:xfrm>
          <a:prstGeom prst="roundRect">
            <a:avLst>
              <a:gd name="adj" fmla="val 27586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6838" y="1762125"/>
            <a:ext cx="158111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Implementation 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86782" y="1685925"/>
            <a:ext cx="60958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2.5-4 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86782" y="1904999"/>
            <a:ext cx="6095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vs 8-25 Cr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639" y="2238375"/>
            <a:ext cx="4971925" cy="400050"/>
          </a:xfrm>
          <a:prstGeom prst="roundRect">
            <a:avLst>
              <a:gd name="adj" fmla="val 38095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6838" y="2314575"/>
            <a:ext cx="108582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User Licensing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0401039" y="2379726"/>
            <a:ext cx="133346" cy="11734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572485" y="2324100"/>
            <a:ext cx="7238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Unlimited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639" y="2705099"/>
            <a:ext cx="4971925" cy="400050"/>
          </a:xfrm>
          <a:prstGeom prst="roundRect">
            <a:avLst>
              <a:gd name="adj" fmla="val 38095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6838" y="2781300"/>
            <a:ext cx="609584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Support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0286742" y="2846450"/>
            <a:ext cx="133346" cy="11734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458188" y="2790824"/>
            <a:ext cx="838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24/7 Dhaka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639" y="3181350"/>
            <a:ext cx="4971925" cy="400050"/>
          </a:xfrm>
          <a:prstGeom prst="roundRect">
            <a:avLst>
              <a:gd name="adj" fmla="val 38095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6838" y="3257550"/>
            <a:ext cx="107629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Customization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0562960" y="3322700"/>
            <a:ext cx="133346" cy="11734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734406" y="3267075"/>
            <a:ext cx="5619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Built-in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48243" y="3848099"/>
            <a:ext cx="5276718" cy="1352549"/>
          </a:xfrm>
          <a:prstGeom prst="roundRect">
            <a:avLst>
              <a:gd name="adj" fmla="val 11267"/>
            </a:avLst>
          </a:prstGeom>
          <a:gradFill rotWithShape="1">
            <a:gsLst>
              <a:gs pos="0">
                <a:srgbClr val="FEFCE8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5638009" y="4458333"/>
            <a:ext cx="13525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38739" y="4064317"/>
            <a:ext cx="228594" cy="17716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743531" y="4000500"/>
            <a:ext cx="145728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ROI Projection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8739" y="4381499"/>
            <a:ext cx="240976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Break-even Period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38739" y="4638674"/>
            <a:ext cx="2409764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12-18 Months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2800" y="4381499"/>
            <a:ext cx="240976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Annual Savings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2800" y="4638674"/>
            <a:ext cx="2409764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5-8 Cr BDT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407659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Comparative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000125"/>
            <a:ext cx="5276718" cy="4838699"/>
          </a:xfrm>
          <a:prstGeom prst="roundRect">
            <a:avLst>
              <a:gd name="adj" fmla="val 3149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253489"/>
            <a:ext cx="228594" cy="2171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1190625"/>
            <a:ext cx="357178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ULMS vs. International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9129" y="1647825"/>
            <a:ext cx="4971925" cy="466724"/>
          </a:xfrm>
          <a:prstGeom prst="roundRect">
            <a:avLst>
              <a:gd name="adj" fmla="val 3265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5327" y="1762125"/>
            <a:ext cx="1628734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Implementation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2676" y="1724024"/>
            <a:ext cx="122869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4-6 months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248043" y="1822347"/>
            <a:ext cx="171445" cy="1272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95687" y="1733550"/>
            <a:ext cx="121916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12-24 months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129" y="2190749"/>
            <a:ext cx="4971925" cy="466724"/>
          </a:xfrm>
          <a:prstGeom prst="roundRect">
            <a:avLst>
              <a:gd name="adj" fmla="val 3265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2305049"/>
            <a:ext cx="76198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Total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8479" y="2266950"/>
            <a:ext cx="84770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2.5-4 Cr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62380" y="2355747"/>
            <a:ext cx="171445" cy="1272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10024" y="2286000"/>
            <a:ext cx="70483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8-25 Cr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129" y="2733674"/>
            <a:ext cx="4971925" cy="723900"/>
          </a:xfrm>
          <a:prstGeom prst="roundRect">
            <a:avLst>
              <a:gd name="adj" fmla="val 2105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857500"/>
            <a:ext cx="1714457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Bangladesh Compliance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2609784" y="3030310"/>
            <a:ext cx="152396" cy="1306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800279" y="2809875"/>
            <a:ext cx="63815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Built-in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14637" y="3032022"/>
            <a:ext cx="171445" cy="1272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762280" y="2809875"/>
            <a:ext cx="195257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Customization Required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129" y="3533774"/>
            <a:ext cx="4971925" cy="438149"/>
          </a:xfrm>
          <a:prstGeom prst="roundRect">
            <a:avLst>
              <a:gd name="adj" fmla="val 3478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327" y="3629025"/>
            <a:ext cx="106677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Local Support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2657408" y="3687535"/>
            <a:ext cx="152396" cy="1306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47903" y="3609975"/>
            <a:ext cx="104772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24/7 Dhaka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971825" y="3689247"/>
            <a:ext cx="171445" cy="1272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219469" y="3609975"/>
            <a:ext cx="149538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Limited/Offshore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9129" y="4048124"/>
            <a:ext cx="4971925" cy="438149"/>
          </a:xfrm>
          <a:prstGeom prst="roundRect">
            <a:avLst>
              <a:gd name="adj" fmla="val 3478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5327" y="4143375"/>
            <a:ext cx="110487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User Licensing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352616" y="4201885"/>
            <a:ext cx="152396" cy="1306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543111" y="4124324"/>
            <a:ext cx="90485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Unlimited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514637" y="4203597"/>
            <a:ext cx="171445" cy="1272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762280" y="4124324"/>
            <a:ext cx="195257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B7280"/>
                </a:solidFill>
                <a:latin typeface="DM Sans"/>
                <a:rFonts ascii="DM Sans" hAnsi="DM Sans" eastAsia="DM Sans" cs="DM Sans"/>
              </a:rPr>
              <a:t>Per-User/Branch Fees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8243" y="1000125"/>
            <a:ext cx="5276718" cy="2705099"/>
          </a:xfrm>
          <a:prstGeom prst="roundRect">
            <a:avLst>
              <a:gd name="adj" fmla="val 5633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00639" y="1259205"/>
            <a:ext cx="228594" cy="20573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705432" y="1190625"/>
            <a:ext cx="200972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ULMS Advantages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639" y="1647825"/>
            <a:ext cx="4971925" cy="41910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76838" y="1771930"/>
            <a:ext cx="190495" cy="17088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743531" y="1733550"/>
            <a:ext cx="341938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Faster ROI: </a:t>
            </a:r>
            <a:r>
              <a:rPr sz="107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12-18 months</a:t>
            </a: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 vs 24-36 months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639" y="2143125"/>
            <a:ext cx="4971925" cy="41910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76838" y="2277035"/>
            <a:ext cx="190495" cy="15127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43531" y="2228850"/>
            <a:ext cx="232404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Regulatory updates </a:t>
            </a:r>
            <a:r>
              <a:rPr sz="107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included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639" y="2638425"/>
            <a:ext cx="4971925" cy="41910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76838" y="2766732"/>
            <a:ext cx="190495" cy="1624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743531" y="2724150"/>
            <a:ext cx="234309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No hidden costs</a:t>
            </a: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 or surprises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639" y="3133724"/>
            <a:ext cx="4971925" cy="41910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76838" y="3262032"/>
            <a:ext cx="190495" cy="16248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743531" y="3219449"/>
            <a:ext cx="251453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24/7 support</a:t>
            </a:r>
            <a:r>
              <a:rPr sz="107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 in local time zone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48243" y="3819524"/>
            <a:ext cx="5276718" cy="2019299"/>
          </a:xfrm>
          <a:prstGeom prst="roundRect">
            <a:avLst>
              <a:gd name="adj" fmla="val 7547"/>
            </a:avLst>
          </a:prstGeom>
          <a:gradFill rotWithShape="1">
            <a:gsLst>
              <a:gs pos="0">
                <a:srgbClr val="FEFCE8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5304634" y="4763133"/>
            <a:ext cx="2019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38739" y="4040981"/>
            <a:ext cx="228594" cy="18573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43531" y="3971925"/>
            <a:ext cx="193352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Key Differentiators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38739" y="4362450"/>
            <a:ext cx="242881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4937" y="4438649"/>
            <a:ext cx="227641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Training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4937" y="4648200"/>
            <a:ext cx="227641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Included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43751" y="4362450"/>
            <a:ext cx="242881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19949" y="4438649"/>
            <a:ext cx="227641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Customization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19949" y="4648200"/>
            <a:ext cx="227641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Flexible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38739" y="5067299"/>
            <a:ext cx="242881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14937" y="5143500"/>
            <a:ext cx="227641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Scalability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4937" y="5353049"/>
            <a:ext cx="227641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Unlimited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43751" y="5067299"/>
            <a:ext cx="242881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19949" y="5143500"/>
            <a:ext cx="227641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Updates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19949" y="5353049"/>
            <a:ext cx="227641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Regular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9135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99135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14300"/>
            <a:ext cx="498145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Implementation &amp;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962024"/>
            <a:ext cx="5276718" cy="5876925"/>
          </a:xfrm>
          <a:prstGeom prst="roundRect">
            <a:avLst>
              <a:gd name="adj" fmla="val 2888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228248"/>
            <a:ext cx="228594" cy="1914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1152524"/>
            <a:ext cx="332414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Implementation Methodology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9129" y="1609724"/>
            <a:ext cx="4971925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27" y="16859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9149" y="1724024"/>
            <a:ext cx="571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4417" y="1714500"/>
            <a:ext cx="387657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Planning &amp;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470" y="1733550"/>
            <a:ext cx="53338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2 weeks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129" y="2143125"/>
            <a:ext cx="4971925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5327" y="22193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0099" y="2257425"/>
            <a:ext cx="857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4417" y="2247899"/>
            <a:ext cx="370513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System 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024" y="2266950"/>
            <a:ext cx="70483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4-6 weeks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129" y="2676524"/>
            <a:ext cx="4971925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5327" y="27527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099" y="2790824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4417" y="2781300"/>
            <a:ext cx="371465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Data Migration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074" y="2800350"/>
            <a:ext cx="68578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2-3 weeks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129" y="3209925"/>
            <a:ext cx="4971925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5327" y="32861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099" y="332422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4417" y="3314700"/>
            <a:ext cx="371465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User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074" y="3333749"/>
            <a:ext cx="68578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2-3 weeks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129" y="3743325"/>
            <a:ext cx="4971925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5327" y="38195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0099" y="385762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4417" y="3848099"/>
            <a:ext cx="371465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Testing &amp; UAT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074" y="3867149"/>
            <a:ext cx="68578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2-3 weeks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9129" y="4276725"/>
            <a:ext cx="4971925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5327" y="43529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0099" y="439102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4417" y="4381499"/>
            <a:ext cx="384800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Go-Live &amp;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2420" y="4400550"/>
            <a:ext cx="55243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Ongoing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9129" y="5734050"/>
            <a:ext cx="4971925" cy="942975"/>
          </a:xfrm>
          <a:prstGeom prst="roundRect">
            <a:avLst>
              <a:gd name="adj" fmla="val 16161"/>
            </a:avLst>
          </a:prstGeom>
          <a:gradFill rotWithShape="1">
            <a:gsLst>
              <a:gs pos="0">
                <a:srgbClr val="3B82F6"/>
              </a:gs>
              <a:gs pos="100000">
                <a:srgbClr val="A855F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3426" y="5848350"/>
            <a:ext cx="474333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Total Implementation 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426" y="6115050"/>
            <a:ext cx="474333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4-6 Months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48243" y="962024"/>
            <a:ext cx="5276718" cy="3057525"/>
          </a:xfrm>
          <a:prstGeom prst="roundRect">
            <a:avLst>
              <a:gd name="adj" fmla="val 4984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00639" y="1235392"/>
            <a:ext cx="228594" cy="17716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05432" y="1152524"/>
            <a:ext cx="266693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Support &amp; Maintenance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639" y="1609724"/>
            <a:ext cx="2447863" cy="704849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76838" y="1738032"/>
            <a:ext cx="190495" cy="16248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76838" y="1990724"/>
            <a:ext cx="229546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24/7 Support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24701" y="1609724"/>
            <a:ext cx="2447863" cy="704849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00899" y="1749238"/>
            <a:ext cx="190495" cy="14007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000899" y="1990724"/>
            <a:ext cx="229546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Dedicated Manager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639" y="2381250"/>
            <a:ext cx="2447863" cy="704849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76838" y="2501152"/>
            <a:ext cx="190495" cy="17929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476838" y="2762249"/>
            <a:ext cx="229546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Regular Updates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24701" y="2381250"/>
            <a:ext cx="2447863" cy="704849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000899" y="2499752"/>
            <a:ext cx="190495" cy="18209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000899" y="2762249"/>
            <a:ext cx="229546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Hotfix &amp; Patches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639" y="3162299"/>
            <a:ext cx="2447863" cy="704849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76838" y="3282202"/>
            <a:ext cx="190495" cy="17929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476838" y="3543300"/>
            <a:ext cx="229546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Security Monitoring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24701" y="3162299"/>
            <a:ext cx="2447863" cy="704849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000899" y="3303213"/>
            <a:ext cx="190495" cy="13727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000899" y="3543300"/>
            <a:ext cx="229546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Performance Opt.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48243" y="4133849"/>
            <a:ext cx="5276718" cy="2705099"/>
          </a:xfrm>
          <a:prstGeom prst="roundRect">
            <a:avLst>
              <a:gd name="adj" fmla="val 5633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00639" y="4407217"/>
            <a:ext cx="228594" cy="17716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705432" y="4324349"/>
            <a:ext cx="293362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Training &amp; Documentation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639" y="4781549"/>
            <a:ext cx="4971925" cy="419100"/>
          </a:xfrm>
          <a:prstGeom prst="roundRect">
            <a:avLst>
              <a:gd name="adj" fmla="val 36363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76838" y="4926114"/>
            <a:ext cx="171445" cy="12997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724481" y="4867274"/>
            <a:ext cx="2209744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Comprehensive user manuals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639" y="5276850"/>
            <a:ext cx="4971925" cy="419100"/>
          </a:xfrm>
          <a:prstGeom prst="roundRect">
            <a:avLst>
              <a:gd name="adj" fmla="val 36363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76838" y="5411736"/>
            <a:ext cx="171445" cy="14932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724481" y="5362575"/>
            <a:ext cx="109534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Video tutorials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639" y="5772150"/>
            <a:ext cx="4971925" cy="419100"/>
          </a:xfrm>
          <a:prstGeom prst="roundRect">
            <a:avLst>
              <a:gd name="adj" fmla="val 36363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476838" y="5909801"/>
            <a:ext cx="171445" cy="1437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724481" y="5857875"/>
            <a:ext cx="119059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On-site training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0639" y="6267449"/>
            <a:ext cx="4971925" cy="419100"/>
          </a:xfrm>
          <a:prstGeom prst="roundRect">
            <a:avLst>
              <a:gd name="adj" fmla="val 36363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476838" y="6427224"/>
            <a:ext cx="171445" cy="99551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724481" y="6353174"/>
            <a:ext cx="195257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Train-the-trainer program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915150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3000"/>
                </a:srgbClr>
              </a:gs>
              <a:gs pos="100000">
                <a:srgbClr val="FAFAFF">
                  <a:alpha val="91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304800"/>
            <a:ext cx="10858228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000000"/>
                </a:solidFill>
                <a:latin typeface="DM Sans"/>
                <a:rFonts ascii="DM Sans" hAnsi="DM Sans" eastAsia="DM Sans" cs="DM Sans"/>
              </a:rPr>
              <a:t>Transform Your Lending Operations with ULMS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262" y="1066799"/>
            <a:ext cx="1219169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6733" y="1333500"/>
            <a:ext cx="2076398" cy="866775"/>
          </a:xfrm>
          <a:prstGeom prst="roundRect">
            <a:avLst>
              <a:gd name="adj" fmla="val 17582"/>
            </a:avLst>
          </a:prstGeom>
          <a:solidFill>
            <a:srgbClr val="FFFFFF">
              <a:alpha val="95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030" y="1485900"/>
            <a:ext cx="184780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88E5"/>
                </a:solidFill>
                <a:latin typeface="DM Sans"/>
                <a:rFonts ascii="DM Sans" hAnsi="DM Sans" eastAsia="DM Sans" cs="DM Sans"/>
              </a:rPr>
              <a:t>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30" y="1866899"/>
            <a:ext cx="184780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Faster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7428" y="1333500"/>
            <a:ext cx="2076398" cy="866775"/>
          </a:xfrm>
          <a:prstGeom prst="roundRect">
            <a:avLst>
              <a:gd name="adj" fmla="val 17582"/>
            </a:avLst>
          </a:prstGeom>
          <a:solidFill>
            <a:srgbClr val="FFFFFF">
              <a:alpha val="95000"/>
            </a:srgbClr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725" y="1485900"/>
            <a:ext cx="184780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43A047"/>
                </a:solidFill>
                <a:latin typeface="DM Sans"/>
                <a:rFonts ascii="DM Sans" hAnsi="DM Sans" eastAsia="DM Sans" cs="DM Sans"/>
              </a:rP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25" y="1866899"/>
            <a:ext cx="184780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Faster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7648" y="1333500"/>
            <a:ext cx="2076398" cy="866775"/>
          </a:xfrm>
          <a:prstGeom prst="roundRect">
            <a:avLst>
              <a:gd name="adj" fmla="val 17582"/>
            </a:avLst>
          </a:prstGeom>
          <a:solidFill>
            <a:srgbClr val="FFFFFF">
              <a:alpha val="95000"/>
            </a:srgbClr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1945" y="1485900"/>
            <a:ext cx="184780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7B1FA2"/>
                </a:solidFill>
                <a:latin typeface="DM Sans"/>
                <a:rFonts ascii="DM Sans" hAnsi="DM Sans" eastAsia="DM Sans" cs="DM Sans"/>
              </a:rP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1945" y="1866899"/>
            <a:ext cx="184780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Error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8343" y="1333500"/>
            <a:ext cx="2076398" cy="866775"/>
          </a:xfrm>
          <a:prstGeom prst="roundRect">
            <a:avLst>
              <a:gd name="adj" fmla="val 17582"/>
            </a:avLst>
          </a:prstGeom>
          <a:solidFill>
            <a:srgbClr val="FFFFFF">
              <a:alpha val="95000"/>
            </a:srgbClr>
          </a:solidFill>
          <a:ln w="330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2640" y="1485900"/>
            <a:ext cx="184780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53935"/>
                </a:solidFill>
                <a:latin typeface="DM Sans"/>
                <a:rFonts ascii="DM Sans" hAnsi="DM Sans" eastAsia="DM Sans" cs="DM Sans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2640" y="1866899"/>
            <a:ext cx="184780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BB Compliance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48563" y="1333500"/>
            <a:ext cx="2076398" cy="866775"/>
          </a:xfrm>
          <a:prstGeom prst="roundRect">
            <a:avLst>
              <a:gd name="adj" fmla="val 17582"/>
            </a:avLst>
          </a:prstGeom>
          <a:solidFill>
            <a:srgbClr val="FFFFFF">
              <a:alpha val="95000"/>
            </a:srgbClr>
          </a:solidFill>
          <a:ln w="330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62860" y="1485900"/>
            <a:ext cx="184780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DD835"/>
                </a:solidFill>
                <a:latin typeface="DM Sans"/>
                <a:rFonts ascii="DM Sans" hAnsi="DM Sans" eastAsia="DM Sans" cs="DM Sans"/>
              </a:rPr>
              <a:t>80-90%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2860" y="1866899"/>
            <a:ext cx="184780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Cost Advantage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2419349"/>
            <a:ext cx="5352916" cy="3762374"/>
          </a:xfrm>
          <a:prstGeom prst="roundRect">
            <a:avLst>
              <a:gd name="adj" fmla="val 4050"/>
            </a:avLst>
          </a:prstGeom>
          <a:solidFill>
            <a:srgbClr val="FFFFFF">
              <a:alpha val="90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688431"/>
            <a:ext cx="228594" cy="1857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3921" y="2609850"/>
            <a:ext cx="167635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DM Sans"/>
                <a:rFonts ascii="DM Sans" hAnsi="DM Sans" eastAsia="DM Sans" cs="DM Sans"/>
              </a:rPr>
              <a:t>Key Takeaways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144786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66773" y="3067050"/>
            <a:ext cx="438139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Enterprise-grade platform for Bangladesh's banking sector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506736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66773" y="3429000"/>
            <a:ext cx="277170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Advanced AI-powered credit scoring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868686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66773" y="3790949"/>
            <a:ext cx="256216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150+ APIs for seamless integration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230636"/>
            <a:ext cx="171445" cy="14932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66773" y="4152899"/>
            <a:ext cx="268598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4-6 month implementation timeline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592586"/>
            <a:ext cx="171445" cy="14932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66773" y="4514850"/>
            <a:ext cx="203829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374151"/>
                </a:solidFill>
                <a:latin typeface="DM Sans"/>
                <a:rFonts ascii="DM Sans" hAnsi="DM Sans" eastAsia="DM Sans" cs="DM Sans"/>
              </a:rPr>
              <a:t>24/7 Dhaka-based support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045" y="2419349"/>
            <a:ext cx="5352916" cy="3762374"/>
          </a:xfrm>
          <a:prstGeom prst="roundRect">
            <a:avLst>
              <a:gd name="adj" fmla="val 4050"/>
            </a:avLst>
          </a:prstGeom>
          <a:gradFill rotWithShape="1">
            <a:gsLst>
              <a:gs pos="0">
                <a:srgbClr val="3B82F6"/>
              </a:gs>
              <a:gs pos="100000">
                <a:srgbClr val="9333E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62540" y="2680801"/>
            <a:ext cx="285742" cy="23909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24481" y="2609850"/>
            <a:ext cx="220974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Get Started Today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2540" y="3105149"/>
            <a:ext cx="4971925" cy="409574"/>
          </a:xfrm>
          <a:prstGeom prst="roundRect">
            <a:avLst>
              <a:gd name="adj" fmla="val 37209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58770" y="3190874"/>
            <a:ext cx="188531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43531" y="3181350"/>
            <a:ext cx="118107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Request Demo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62540" y="3619499"/>
            <a:ext cx="4971925" cy="409574"/>
          </a:xfrm>
          <a:prstGeom prst="roundRect">
            <a:avLst>
              <a:gd name="adj" fmla="val 37209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38739" y="3730466"/>
            <a:ext cx="228594" cy="19716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43531" y="3695699"/>
            <a:ext cx="182875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Schedule Consultation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62540" y="4152899"/>
            <a:ext cx="4971925" cy="409574"/>
          </a:xfrm>
          <a:prstGeom prst="roundRect">
            <a:avLst>
              <a:gd name="adj" fmla="val 37209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38739" y="4255770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43531" y="4229100"/>
            <a:ext cx="237166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Get Implementation Proposal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2540" y="4705350"/>
            <a:ext cx="497192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Contact Unisoft Systems Limited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2540" y="4962525"/>
            <a:ext cx="497192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DM Sans"/>
                <a:rFonts ascii="DM Sans" hAnsi="DM Sans" eastAsia="DM Sans" cs="DM Sans"/>
              </a:rPr>
              <a:t>info@unisoft.com.bd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733" y="6343650"/>
            <a:ext cx="1085822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4B5563"/>
                </a:solidFill>
                <a:latin typeface="DM Sans"/>
                <a:rFonts ascii="DM Sans" hAnsi="DM Sans" eastAsia="DM Sans" cs="DM Sans"/>
              </a:rPr>
              <a:t>© 2026 Unisoft Systems Limited. All rights reserved.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A855F7"/>
              </a:gs>
              <a:gs pos="100000">
                <a:srgbClr val="EAB3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